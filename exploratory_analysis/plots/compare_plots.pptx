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68" r:id="rId17"/>
    <p:sldId id="273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58"/>
  </p:normalViewPr>
  <p:slideViewPr>
    <p:cSldViewPr snapToGrid="0">
      <p:cViewPr varScale="1">
        <p:scale>
          <a:sx n="72" d="100"/>
          <a:sy n="72" d="100"/>
        </p:scale>
        <p:origin x="843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0CBC5-2798-EACB-071B-BF4336AD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10661F-9120-EF7C-5705-60E53A8E7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6372-3F3E-B2B9-390D-AB855EE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43B80-6693-634D-6A0C-D312410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C6CDB-6AC1-C2BB-579A-CDEAC6190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90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C3DD-6756-4703-0C34-E1ABDD052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F86D-765B-EDE3-2E42-75CC0F4A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7AE45-35F0-E519-C2B0-1035B776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A755E-798B-B224-92D7-D9FF71FF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28273-CAE2-5B61-A275-5733ACAF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2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F7FB3-955D-3334-A5D9-704F4CC4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7098-D990-8D6D-BDE2-3057BD55F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60CE1-E948-0666-D27B-127F9088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30FA7-B9D2-C831-C70B-7C2215CAE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B8010-E1C0-EC0F-2CF0-C45CF73E3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932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8EC6-9EDE-CA3A-BDB4-BCC988CC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52D70-F786-F27F-76CC-9E272B63A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80CA-E910-4ACA-61B5-CBBA6C999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C2CDD-A885-7C69-682F-06F7AFB6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40781-337B-9604-D975-42479F30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7558D5-40A9-5141-C70D-859E2977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5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F3ADA-CAFF-B1D1-D15D-B13A49CA0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E250-A56F-BC34-F39F-02D64F4C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1B81C-8FA3-05BA-F140-B2A468F3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90FBF7-4F39-F8CA-BF55-5EC5C76EA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2D9BB7-7CDF-7393-D2ED-16C128A616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AD0EB4-993D-F0E4-9341-68A44309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8FAB9F-5BF6-DA35-11EB-1A92BEED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E65F3E-E806-4963-A9B8-5DE41398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183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A9F88-3262-5A73-E620-36C850CC3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D06BD-0F4A-41E1-43E2-7DBE97ACA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80D8B6-CC1A-34FA-528F-EDCBF2151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A73ACE-BCD7-4635-8E2C-87A77205D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2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A85573-E758-0C07-66DE-0A30EFD7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3C880-7501-6A74-67FA-526D2AD9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D9024-FCBF-1730-E299-6FDC6E9DF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74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DF2-747C-9F7F-D43E-21CA562E2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5AE1D-8A98-BC46-81D0-F104855E3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C46F1-F8E7-7419-717C-FBBFC4B2A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845AC-B6F8-E7EB-A340-8C5041A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F270-A95E-9FEC-B332-97DD73E3B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2EEE0-4B9B-A461-757E-C2155A29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6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4E82-0F55-0B37-DB30-66EF49EE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5E6F01-06A9-9FB0-2F42-253E25B5CF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875C1-8A7E-DAFA-0C6B-80DE2EF3B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A8E0-444A-B79D-CD00-07751E60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21B9-3A1F-04F7-72FC-C457C4E3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03D0B-CC73-428A-8FFB-FCE3FAFF4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92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62608-6DAC-0478-0310-525A3EEB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4189E-8A98-7841-1C32-8B3CAB9F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6D78C-5537-8D22-7C84-1EC2ECB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512D33-4D3C-9EB2-A5F6-3F9E62478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1220B-573A-3004-A943-A11B54E3B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80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DDD7DE-3842-9FEA-D60A-00070C3EB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7041C-F273-753B-10FE-A19891FDC9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77274-8911-B938-8385-BF3D8E1B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AEE88-2280-56F6-4EC8-0C592BCDF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33089-2C8D-E995-389F-71D5DD0B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0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E5421C-3660-8CAE-F3E2-D198DB71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F4043-4B75-B9B5-0574-1FE1EA716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34229-6594-B07B-D1FE-2F7952208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A78ED-B98F-42E9-8346-8CC44BF9004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7214C-78C2-C383-EE07-B68C25FC25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34BC1-2AF7-DAE7-A581-F58F50D5AA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9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C3220-A056-6C5B-F868-8549B62337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Changes in Standardized KIM-1 and NGAL Among AKI and no-AKI Patients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DDC1A0-738E-CCE6-EF1E-3E6C734A5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70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A20F-7497-3539-AF21-6D7C37DE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T1 for AKI vs. no-AKI Patients</a:t>
            </a:r>
          </a:p>
        </p:txBody>
      </p:sp>
      <p:pic>
        <p:nvPicPr>
          <p:cNvPr id="13" name="Picture 12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B3989F9-10A9-C885-5A09-E085D2F62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980" y="1917241"/>
            <a:ext cx="4572000" cy="4572000"/>
          </a:xfrm>
          <a:prstGeom prst="rect">
            <a:avLst/>
          </a:prstGeom>
        </p:spPr>
      </p:pic>
      <p:pic>
        <p:nvPicPr>
          <p:cNvPr id="21" name="Content Placeholder 20" descr="A graph of a patient&#10;&#10;AI-generated content may be incorrect.">
            <a:extLst>
              <a:ext uri="{FF2B5EF4-FFF2-40B4-BE49-F238E27FC236}">
                <a16:creationId xmlns:a16="http://schemas.microsoft.com/office/drawing/2014/main" id="{D915DFDB-29C1-EED5-84EB-658BACB4F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84" y="2027572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0508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2C2A-3FFA-E767-7FDA-71ED5915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B634D3EE-639B-18B0-D1F6-12DCAB6142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021" y="1920875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32333198-B0E8-D9BE-FE86-A61E2AC70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979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4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76FF7-0453-4A66-DAA1-8EFA76FA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2D325ADE-FEEC-8137-1489-8D37D2DBC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636" y="172732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FC6160F-5CE0-F4EC-DFFB-5A16F17CC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028" y="161699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92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CCBA1-FEA9-D8D7-756A-EA6234C8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A5491F22-0F91-F46C-8B6F-22CFAD6BDE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24" y="1690688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7165E7B-5F63-7E6C-4FF1-557E97A4C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862" y="16906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208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09B1B-B20F-9786-9D23-D61EA824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KIM-1 at T1-T4 for AKI vs. no-AKI Patients</a:t>
            </a:r>
          </a:p>
        </p:txBody>
      </p:sp>
      <p:pic>
        <p:nvPicPr>
          <p:cNvPr id="5" name="Content Placeholder 4" descr="A graph with a number of boxes&#10;&#10;AI-generated content may be incorrect.">
            <a:extLst>
              <a:ext uri="{FF2B5EF4-FFF2-40B4-BE49-F238E27FC236}">
                <a16:creationId xmlns:a16="http://schemas.microsoft.com/office/drawing/2014/main" id="{6C9AA699-91E0-2E20-B042-EB8BC5863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609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3805724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0FD9-4CE3-EBCA-D4D4-15DB19787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T1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BEEE7AB-03C7-D6E9-9B7C-B1CA32E4AF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001" y="200747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FAA773F1-2533-ABB2-593A-2E4045204B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578" y="18971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58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45F7D-9DF7-243A-B932-BEF9BBE74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CAB6B1D9-7D73-367D-D01D-1620FE35CF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608" y="1882682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9FC0791-9B98-8B64-CA02-ED1B94FB05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056" y="1772351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0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5F9E-4776-0FE4-D1E7-FDC35F6D6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6C14FCC2-F59D-D6B5-B033-CCF182F94D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819" y="2008207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239FE873-CF6B-1809-5751-1C2544C2F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845" y="17875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27DFD-1410-975A-7D20-F29BF08A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B79D597-FE93-DFE2-605D-E548A23B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028" y="1911350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BABFD9B6-B0C7-BDD1-C404-193A6242D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73" y="1801019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63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D3F4-346E-B3A6-F334-96C6A32D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NGAL at T1-T4 for AKI vs. no-AKI Patients</a:t>
            </a:r>
          </a:p>
        </p:txBody>
      </p:sp>
      <p:pic>
        <p:nvPicPr>
          <p:cNvPr id="5" name="Content Placeholder 4" descr="A graph of a bar chart&#10;&#10;AI-generated content may be incorrect.">
            <a:extLst>
              <a:ext uri="{FF2B5EF4-FFF2-40B4-BE49-F238E27FC236}">
                <a16:creationId xmlns:a16="http://schemas.microsoft.com/office/drawing/2014/main" id="{AA302B33-23C7-7CD2-6B9E-262FF7A2F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213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1377604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6488-478F-7C11-1EB2-6395CA6A1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EAC5F1-CEA7-990D-D387-76BD68C2AE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340" y="1651785"/>
            <a:ext cx="4665839" cy="466583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B9E1B0-4B5A-6AD9-2547-A0C5C8B9A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822" y="1651787"/>
            <a:ext cx="4665838" cy="4665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74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D5D28-BC79-E372-7429-BA9CC988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93"/>
            <a:ext cx="10515600" cy="1325563"/>
          </a:xfrm>
        </p:spPr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B16B30-3637-1169-5D80-FCB398650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7501" y="1359297"/>
            <a:ext cx="5417110" cy="541711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917B1D-916B-FCDC-31A9-46737819E7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36" y="1359297"/>
            <a:ext cx="5417110" cy="54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23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26BF2-0B08-A871-45F3-11B2C194F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929F5F-FEAA-CFF7-9916-DE0B0A9E5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205" y="1763227"/>
            <a:ext cx="5044499" cy="504449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FA5CC3-63F0-53E2-03DE-A81441D1B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01" y="1763226"/>
            <a:ext cx="5044499" cy="504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600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20239-AA03-957E-0098-52A860E40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at T4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6939C-DA2B-820B-5C89-5724C72A5E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186" y="1690688"/>
            <a:ext cx="4802187" cy="480218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DA9EA1-979B-B87C-0C22-135E81FF22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632640"/>
            <a:ext cx="4860235" cy="48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1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5EF6-AD4E-DB4C-28E5-17C07B557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Mediation Analysis when using standardized NGAL at T3 as the mediating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AB8C0-D585-C670-017C-DFC0E35AD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Analysis of effect of hypoxia on AKI when NGAL is the mediating variable</a:t>
            </a:r>
          </a:p>
          <a:p>
            <a:r>
              <a:rPr lang="en-US" dirty="0"/>
              <a:t>Total effect: 0.17 (0.00, 0.36)</a:t>
            </a:r>
          </a:p>
          <a:p>
            <a:r>
              <a:rPr lang="en-US" dirty="0"/>
              <a:t>Indirect effect: 0.00 (-0.19, 0.20)</a:t>
            </a:r>
          </a:p>
          <a:p>
            <a:r>
              <a:rPr lang="en-US" dirty="0"/>
              <a:t>Direct effect: 0.16 (0.02, 0.32)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691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2378D-D535-BF74-8423-9FC7090B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59C6-6E79-930F-5DC3-3F5B18F8A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Mediation Analysis when using standardized NGAL at T4 as the mediating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676C5-DBC8-A151-C977-C2C88885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Analysis of effect of hypoxia on AKI when NGAL is the mediating variable</a:t>
            </a:r>
          </a:p>
          <a:p>
            <a:r>
              <a:rPr lang="en-US" dirty="0"/>
              <a:t>Total effect: 0.16 (0.00, 0.33)</a:t>
            </a:r>
          </a:p>
          <a:p>
            <a:r>
              <a:rPr lang="en-US" dirty="0"/>
              <a:t>Indirect effect: -0.07 (-0.31, 0.15)</a:t>
            </a:r>
          </a:p>
          <a:p>
            <a:r>
              <a:rPr lang="en-US" dirty="0"/>
              <a:t>Direct effect</a:t>
            </a:r>
            <a:r>
              <a:rPr lang="en-US"/>
              <a:t>: 0.23 (0.06, 0.43)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508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6F220-07D7-2702-0D83-56DA6F3E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DO2 on standardized NGAL at T3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5D2F-9D96-3CBE-73A1-252C9B28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Effect of nadir DO2 and X-clamp duration on standardized NGAL at T3</a:t>
            </a:r>
          </a:p>
          <a:p>
            <a:r>
              <a:rPr lang="en-US" dirty="0"/>
              <a:t>0.12 (-0.03, 0.25)</a:t>
            </a:r>
          </a:p>
          <a:p>
            <a:r>
              <a:rPr lang="en-US" dirty="0"/>
              <a:t>These values of standardized NGAL are scaled by the standard deviation, which is about 36,000. An equivalent interval would be</a:t>
            </a:r>
          </a:p>
          <a:p>
            <a:r>
              <a:rPr lang="en-US" dirty="0"/>
              <a:t>4,300 (-1,100, 9,000)</a:t>
            </a:r>
          </a:p>
          <a:p>
            <a:r>
              <a:rPr lang="en-US" dirty="0"/>
              <a:t>This estimate is based off of the imputed values of standardized NGAL for patients that we have no measurements of biomarker data for; this introduces greater amounts of uncertainty</a:t>
            </a:r>
          </a:p>
        </p:txBody>
      </p:sp>
    </p:spTree>
    <p:extLst>
      <p:ext uri="{BB962C8B-B14F-4D97-AF65-F5344CB8AC3E}">
        <p14:creationId xmlns:p14="http://schemas.microsoft.com/office/powerpoint/2010/main" val="1134780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370</Words>
  <Application>Microsoft Office PowerPoint</Application>
  <PresentationFormat>Widescreen</PresentationFormat>
  <Paragraphs>31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Changes in Standardized KIM-1 and NGAL Among AKI and no-AKI Patients</vt:lpstr>
      <vt:lpstr>Change in Standardized KIM-1 at T1 for AKI vs. no-AKI Patients</vt:lpstr>
      <vt:lpstr>Change in Standardized KIM-1 at T2 for AKI vs. no-AKI Patients</vt:lpstr>
      <vt:lpstr>Change in Standardized KIM-1 at T3 for AKI vs. no-AKI Patients</vt:lpstr>
      <vt:lpstr>Change in Standardized KIM-1 at T4 for AKI vs. no-AKI Patients</vt:lpstr>
      <vt:lpstr>Boxplots for Change in Standardized KIM-1 at T1-T4 for AKI vs. no-AKI Patients</vt:lpstr>
      <vt:lpstr>Change in Standardized NGAL at T1 for AKI vs. no-AKI Patients</vt:lpstr>
      <vt:lpstr>Change in Standardized NGAL at T2 for AKI vs. no-AKI Patients</vt:lpstr>
      <vt:lpstr>Change in Standardized NGAL at T3 for AKI vs. no-AKI Patients</vt:lpstr>
      <vt:lpstr>Change in Standardized NGAL at T4 for AKI vs. no-AKI Patients</vt:lpstr>
      <vt:lpstr>Boxplots for Change in Standardized NGAL at T1-T4 for AKI vs. no-AKI Patients</vt:lpstr>
      <vt:lpstr>Standardized NGAL from Baseline Over Time for AKI and no AKI populations</vt:lpstr>
      <vt:lpstr>Standardized NGAL from Baseline Over Time for AKI and no AKI populations</vt:lpstr>
      <vt:lpstr>Standardized NGAL from Baseline Over Time for AKI and no AKI populations</vt:lpstr>
      <vt:lpstr>Standardized NGAL at T4 for AKI and no AKI populations</vt:lpstr>
      <vt:lpstr>Mediation Analysis when using standardized NGAL at T3 as the mediating variable</vt:lpstr>
      <vt:lpstr>Mediation Analysis when using standardized NGAL at T4 as the mediating variable</vt:lpstr>
      <vt:lpstr>Effect of DO2 on standardized NGAL at T3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M Chen</dc:creator>
  <cp:lastModifiedBy>Jacob M Chen</cp:lastModifiedBy>
  <cp:revision>15</cp:revision>
  <dcterms:created xsi:type="dcterms:W3CDTF">2026-02-18T14:26:23Z</dcterms:created>
  <dcterms:modified xsi:type="dcterms:W3CDTF">2026-03-01T20:27:58Z</dcterms:modified>
</cp:coreProperties>
</file>