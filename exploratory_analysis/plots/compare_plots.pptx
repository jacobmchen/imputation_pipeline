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91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0CBC5-2798-EACB-071B-BF4336ADF1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10661F-9120-EF7C-5705-60E53A8E7C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7C6372-3F3E-B2B9-390D-AB855EE29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543B80-6693-634D-6A0C-D31241078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FC6CDB-6AC1-C2BB-579A-CDEAC6190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990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AC3DD-6756-4703-0C34-E1ABDD052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1F86D-765B-EDE3-2E42-75CC0F4A0C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97AE45-35F0-E519-C2B0-1035B776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A755E-798B-B224-92D7-D9FF71FFA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928273-CAE2-5B61-A275-5733ACAFB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7125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F7FB3-955D-3334-A5D9-704F4CC44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F07098-D990-8D6D-BDE2-3057BD55F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B60CE1-E948-0666-D27B-127F90888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930FA7-B9D2-C831-C70B-7C2215CAE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3B8010-E1C0-EC0F-2CF0-C45CF73E3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932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68EC6-9EDE-CA3A-BDB4-BCC988CC7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52D70-F786-F27F-76CC-9E272B63AA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0480CA-E910-4ACA-61B5-CBBA6C9996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5C2CDD-A885-7C69-682F-06F7AFB6D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40781-337B-9604-D975-42479F306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7558D5-40A9-5141-C70D-859E29771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2555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F3ADA-CAFF-B1D1-D15D-B13A49CA0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15E250-A56F-BC34-F39F-02D64F4C79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31B81C-8FA3-05BA-F140-B2A468F38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90FBF7-4F39-F8CA-BF55-5EC5C76EA5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2D9BB7-7CDF-7393-D2ED-16C128A616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AD0EB4-993D-F0E4-9341-68A44309F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8FAB9F-5BF6-DA35-11EB-1A92BEED5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E65F3E-E806-4963-A9B8-5DE41398E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183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A9F88-3262-5A73-E620-36C850CC3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CD06BD-0F4A-41E1-43E2-7DBE97ACA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80D8B6-CC1A-34FA-528F-EDCBF2151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A73ACE-BCD7-4635-8E2C-87A77205D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12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A85573-E758-0C07-66DE-0A30EFD7E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93C880-7501-6A74-67FA-526D2AD97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BD9024-FCBF-1730-E299-6FDC6E9DF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7416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E7DF2-747C-9F7F-D43E-21CA562E2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5AE1D-8A98-BC46-81D0-F104855E3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4C46F1-F8E7-7419-717C-FBBFC4B2AA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1845AC-B6F8-E7EB-A340-8C5041A02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FFF270-A95E-9FEC-B332-97DD73E3B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62EEE0-4B9B-A461-757E-C2155A29E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36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B4E82-0F55-0B37-DB30-66EF49EED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5E6F01-06A9-9FB0-2F42-253E25B5CF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9875C1-8A7E-DAFA-0C6B-80DE2EF3B0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C2A8E0-444A-B79D-CD00-07751E60E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5E21B9-3A1F-04F7-72FC-C457C4E36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B03D0B-CC73-428A-8FFB-FCE3FAFF4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0926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62608-6DAC-0478-0310-525A3EEBD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C4189E-8A98-7841-1C32-8B3CAB9F2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6D78C-5537-8D22-7C84-1EC2ECB921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512D33-4D3C-9EB2-A5F6-3F9E62478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F1220B-573A-3004-A943-A11B54E3B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80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DDD7DE-3842-9FEA-D60A-00070C3EBD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A7041C-F273-753B-10FE-A19891FDC9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77274-8911-B938-8385-BF3D8E1BC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9AEE88-2280-56F6-4EC8-0C592BCDF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C33089-2C8D-E995-389F-71D5DD0B0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304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E5421C-3660-8CAE-F3E2-D198DB71D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1F4043-4B75-B9B5-0574-1FE1EA7166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734229-6594-B07B-D1FE-2F79522086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9A78ED-B98F-42E9-8346-8CC44BF90042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27214C-78C2-C383-EE07-B68C25FC25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734BC1-2AF7-DAE7-A581-F58F50D5AA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2392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C3220-A056-6C5B-F868-8549B62337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Changes in Standardized KIM-1 and NGAL Among AKI and no-AKI Patients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DDC1A0-738E-CCE6-EF1E-3E6C734A56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270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7A20F-7497-3539-AF21-6D7C37DEC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KIM-1 at T1 for AKI vs. no-AKI Patients</a:t>
            </a:r>
          </a:p>
        </p:txBody>
      </p:sp>
      <p:pic>
        <p:nvPicPr>
          <p:cNvPr id="13" name="Picture 12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8B3989F9-10A9-C885-5A09-E085D2F625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6980" y="1917241"/>
            <a:ext cx="4572000" cy="4572000"/>
          </a:xfrm>
          <a:prstGeom prst="rect">
            <a:avLst/>
          </a:prstGeom>
        </p:spPr>
      </p:pic>
      <p:pic>
        <p:nvPicPr>
          <p:cNvPr id="21" name="Content Placeholder 20" descr="A graph of a patient&#10;&#10;AI-generated content may be incorrect.">
            <a:extLst>
              <a:ext uri="{FF2B5EF4-FFF2-40B4-BE49-F238E27FC236}">
                <a16:creationId xmlns:a16="http://schemas.microsoft.com/office/drawing/2014/main" id="{D915DFDB-29C1-EED5-84EB-658BACB4FB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3684" y="2027572"/>
            <a:ext cx="4351338" cy="4351338"/>
          </a:xfrm>
        </p:spPr>
      </p:pic>
    </p:spTree>
    <p:extLst>
      <p:ext uri="{BB962C8B-B14F-4D97-AF65-F5344CB8AC3E}">
        <p14:creationId xmlns:p14="http://schemas.microsoft.com/office/powerpoint/2010/main" val="3050881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62C2A-3FFA-E767-7FDA-71ED59154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KIM-1 at T2 for AKI vs. no-AKI Patients</a:t>
            </a:r>
          </a:p>
        </p:txBody>
      </p:sp>
      <p:pic>
        <p:nvPicPr>
          <p:cNvPr id="5" name="Content Placeholder 4" descr="A graph of a patient&#10;&#10;AI-generated content may be incorrect.">
            <a:extLst>
              <a:ext uri="{FF2B5EF4-FFF2-40B4-BE49-F238E27FC236}">
                <a16:creationId xmlns:a16="http://schemas.microsoft.com/office/drawing/2014/main" id="{B634D3EE-639B-18B0-D1F6-12DCAB6142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6021" y="1920875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32333198-B0E8-D9BE-FE86-A61E2AC702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3979" y="192087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3416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76FF7-0453-4A66-DAA1-8EFA76FA4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KIM-1 at T3 for AKI vs. no-AKI Patients</a:t>
            </a:r>
          </a:p>
        </p:txBody>
      </p:sp>
      <p:pic>
        <p:nvPicPr>
          <p:cNvPr id="5" name="Content Placeholder 4" descr="A graph of a patient&#10;&#10;AI-generated content may be incorrect.">
            <a:extLst>
              <a:ext uri="{FF2B5EF4-FFF2-40B4-BE49-F238E27FC236}">
                <a16:creationId xmlns:a16="http://schemas.microsoft.com/office/drawing/2014/main" id="{2D325ADE-FEEC-8137-1489-8D37D2DBC7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9636" y="1727326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8FC6160F-5CE0-F4EC-DFFB-5A16F17CCC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1028" y="161699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79258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CCBA1-FEA9-D8D7-756A-EA6234C85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KIM-1 at T4 for AKI vs. no-AKI Patients</a:t>
            </a:r>
          </a:p>
        </p:txBody>
      </p:sp>
      <p:pic>
        <p:nvPicPr>
          <p:cNvPr id="5" name="Content Placeholder 4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A5491F22-0F91-F46C-8B6F-22CFAD6BDE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5524" y="1690688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57165E7B-5F63-7E6C-4FF1-557E97A4CC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0862" y="1690688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8208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09B1B-B20F-9786-9D23-D61EA8249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Boxplots for Change in Standardized KIM-1 at T1-T4 for AKI vs. no-AKI Patients</a:t>
            </a:r>
          </a:p>
        </p:txBody>
      </p:sp>
      <p:pic>
        <p:nvPicPr>
          <p:cNvPr id="5" name="Content Placeholder 4" descr="A graph with a number of boxes&#10;&#10;AI-generated content may be incorrect.">
            <a:extLst>
              <a:ext uri="{FF2B5EF4-FFF2-40B4-BE49-F238E27FC236}">
                <a16:creationId xmlns:a16="http://schemas.microsoft.com/office/drawing/2014/main" id="{6C9AA699-91E0-2E20-B042-EB8BC5863D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3356" y="1943609"/>
            <a:ext cx="9065287" cy="4351338"/>
          </a:xfrm>
        </p:spPr>
      </p:pic>
    </p:spTree>
    <p:extLst>
      <p:ext uri="{BB962C8B-B14F-4D97-AF65-F5344CB8AC3E}">
        <p14:creationId xmlns:p14="http://schemas.microsoft.com/office/powerpoint/2010/main" val="38057249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10FD9-4CE3-EBCA-D4D4-15DB19787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NGAL at T1 for AKI vs. no-AKI Patients</a:t>
            </a:r>
          </a:p>
        </p:txBody>
      </p:sp>
      <p:pic>
        <p:nvPicPr>
          <p:cNvPr id="5" name="Content Placeholder 4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EBEEE7AB-03C7-D6E9-9B7C-B1CA32E4AF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001" y="2007476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FAA773F1-2533-ABB2-593A-2E4045204B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2578" y="189714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4580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45F7D-9DF7-243A-B932-BEF9BBE74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NGAL at T2 for AKI vs. no-AKI Patients</a:t>
            </a:r>
          </a:p>
        </p:txBody>
      </p:sp>
      <p:pic>
        <p:nvPicPr>
          <p:cNvPr id="5" name="Content Placeholder 4" descr="A graph of a patient&#10;&#10;AI-generated content may be incorrect.">
            <a:extLst>
              <a:ext uri="{FF2B5EF4-FFF2-40B4-BE49-F238E27FC236}">
                <a16:creationId xmlns:a16="http://schemas.microsoft.com/office/drawing/2014/main" id="{CAB6B1D9-7D73-367D-D01D-1620FE35CF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7608" y="1882682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E9FC0791-9B98-8B64-CA02-ED1B94FB05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3056" y="1772351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1025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A5F9E-4776-0FE4-D1E7-FDC35F6D6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NGAL at T3 for AKI vs. no-AKI Patients</a:t>
            </a:r>
          </a:p>
        </p:txBody>
      </p:sp>
      <p:pic>
        <p:nvPicPr>
          <p:cNvPr id="5" name="Content Placeholder 4" descr="A graph of a patient&#10;&#10;AI-generated content may be incorrect.">
            <a:extLst>
              <a:ext uri="{FF2B5EF4-FFF2-40B4-BE49-F238E27FC236}">
                <a16:creationId xmlns:a16="http://schemas.microsoft.com/office/drawing/2014/main" id="{6C14FCC2-F59D-D6B5-B033-CCF182F94D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819" y="2008207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239FE873-CF6B-1809-5751-1C2544C2F6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9845" y="178754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05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27DFD-1410-975A-7D20-F29BF08A5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NGAL at T4 for AKI vs. no-AKI Patients</a:t>
            </a:r>
          </a:p>
        </p:txBody>
      </p:sp>
      <p:pic>
        <p:nvPicPr>
          <p:cNvPr id="5" name="Content Placeholder 4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5B79D597-FE93-DFE2-605D-E548A23B9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8028" y="1911350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BABFD9B6-B0C7-BDD1-C404-193A6242DA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1973" y="1801019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67630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0D3F4-346E-B3A6-F334-96C6A32D9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Boxplots for Change in Standardized NGAL at T1-T4 for AKI vs. no-AKI Patients</a:t>
            </a:r>
          </a:p>
        </p:txBody>
      </p:sp>
      <p:pic>
        <p:nvPicPr>
          <p:cNvPr id="5" name="Content Placeholder 4" descr="A graph of a bar chart&#10;&#10;AI-generated content may be incorrect.">
            <a:extLst>
              <a:ext uri="{FF2B5EF4-FFF2-40B4-BE49-F238E27FC236}">
                <a16:creationId xmlns:a16="http://schemas.microsoft.com/office/drawing/2014/main" id="{AA302B33-23C7-7CD2-6B9E-262FF7A2F9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3356" y="1943213"/>
            <a:ext cx="9065287" cy="4351338"/>
          </a:xfrm>
        </p:spPr>
      </p:pic>
    </p:spTree>
    <p:extLst>
      <p:ext uri="{BB962C8B-B14F-4D97-AF65-F5344CB8AC3E}">
        <p14:creationId xmlns:p14="http://schemas.microsoft.com/office/powerpoint/2010/main" val="13776048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135</Words>
  <Application>Microsoft Office PowerPoint</Application>
  <PresentationFormat>Widescreen</PresentationFormat>
  <Paragraphs>11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Changes in Standardized KIM-1 and NGAL Among AKI and no-AKI Patients</vt:lpstr>
      <vt:lpstr>Change in Standardized KIM-1 at T1 for AKI vs. no-AKI Patients</vt:lpstr>
      <vt:lpstr>Change in Standardized KIM-1 at T2 for AKI vs. no-AKI Patients</vt:lpstr>
      <vt:lpstr>Change in Standardized KIM-1 at T3 for AKI vs. no-AKI Patients</vt:lpstr>
      <vt:lpstr>Change in Standardized KIM-1 at T4 for AKI vs. no-AKI Patients</vt:lpstr>
      <vt:lpstr>Boxplots for Change in Standardized KIM-1 at T1-T4 for AKI vs. no-AKI Patients</vt:lpstr>
      <vt:lpstr>Change in Standardized NGAL at T1 for AKI vs. no-AKI Patients</vt:lpstr>
      <vt:lpstr>Change in Standardized NGAL at T2 for AKI vs. no-AKI Patients</vt:lpstr>
      <vt:lpstr>Change in Standardized NGAL at T3 for AKI vs. no-AKI Patients</vt:lpstr>
      <vt:lpstr>Change in Standardized NGAL at T4 for AKI vs. no-AKI Patients</vt:lpstr>
      <vt:lpstr>Boxplots for Change in Standardized NGAL at T1-T4 for AKI vs. no-AKI Patients</vt:lpstr>
    </vt:vector>
  </TitlesOfParts>
  <Company>Johns Hopkins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M Chen</dc:creator>
  <cp:lastModifiedBy>Jacob M Chen</cp:lastModifiedBy>
  <cp:revision>4</cp:revision>
  <dcterms:created xsi:type="dcterms:W3CDTF">2026-02-18T14:26:23Z</dcterms:created>
  <dcterms:modified xsi:type="dcterms:W3CDTF">2026-02-18T14:53:49Z</dcterms:modified>
</cp:coreProperties>
</file>