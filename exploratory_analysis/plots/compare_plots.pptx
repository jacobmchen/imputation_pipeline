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72" r:id="rId16"/>
    <p:sldId id="268" r:id="rId17"/>
    <p:sldId id="273" r:id="rId18"/>
    <p:sldId id="275" r:id="rId19"/>
    <p:sldId id="276" r:id="rId20"/>
    <p:sldId id="27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4"/>
    <p:restoredTop sz="94658"/>
  </p:normalViewPr>
  <p:slideViewPr>
    <p:cSldViewPr snapToGrid="0">
      <p:cViewPr varScale="1">
        <p:scale>
          <a:sx n="117" d="100"/>
          <a:sy n="117" d="100"/>
        </p:scale>
        <p:origin x="19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0CBC5-2798-EACB-071B-BF4336AD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10661F-9120-EF7C-5705-60E53A8E7C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C6372-3F3E-B2B9-390D-AB855EE2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543B80-6693-634D-6A0C-D31241078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C6CDB-6AC1-C2BB-579A-CDEAC6190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90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C3DD-6756-4703-0C34-E1ABDD052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1F86D-765B-EDE3-2E42-75CC0F4A0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7AE45-35F0-E519-C2B0-1035B776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A755E-798B-B224-92D7-D9FF71FFA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928273-CAE2-5B61-A275-5733ACAFB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12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F7FB3-955D-3334-A5D9-704F4CC4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F07098-D990-8D6D-BDE2-3057BD55F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B60CE1-E948-0666-D27B-127F90888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30FA7-B9D2-C831-C70B-7C2215CAE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3B8010-E1C0-EC0F-2CF0-C45CF73E3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932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8EC6-9EDE-CA3A-BDB4-BCC988CC7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52D70-F786-F27F-76CC-9E272B63AA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480CA-E910-4ACA-61B5-CBBA6C999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C2CDD-A885-7C69-682F-06F7AFB6D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40781-337B-9604-D975-42479F30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7558D5-40A9-5141-C70D-859E2977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255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F3ADA-CAFF-B1D1-D15D-B13A49CA0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15E250-A56F-BC34-F39F-02D64F4C7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31B81C-8FA3-05BA-F140-B2A468F38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90FBF7-4F39-F8CA-BF55-5EC5C76EA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2D9BB7-7CDF-7393-D2ED-16C128A616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AD0EB4-993D-F0E4-9341-68A44309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8FAB9F-5BF6-DA35-11EB-1A92BEED5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E65F3E-E806-4963-A9B8-5DE41398E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183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A9F88-3262-5A73-E620-36C850CC3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CD06BD-0F4A-41E1-43E2-7DBE97ACA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80D8B6-CC1A-34FA-528F-EDCBF2151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A73ACE-BCD7-4635-8E2C-87A77205D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12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A85573-E758-0C07-66DE-0A30EFD7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3C880-7501-6A74-67FA-526D2AD97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D9024-FCBF-1730-E299-6FDC6E9DF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741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7DF2-747C-9F7F-D43E-21CA562E2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5AE1D-8A98-BC46-81D0-F104855E3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4C46F1-F8E7-7419-717C-FBBFC4B2A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1845AC-B6F8-E7EB-A340-8C5041A02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FFF270-A95E-9FEC-B332-97DD73E3B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62EEE0-4B9B-A461-757E-C2155A29E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36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B4E82-0F55-0B37-DB30-66EF49EED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5E6F01-06A9-9FB0-2F42-253E25B5CF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9875C1-8A7E-DAFA-0C6B-80DE2EF3B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2A8E0-444A-B79D-CD00-07751E60E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5E21B9-3A1F-04F7-72FC-C457C4E36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03D0B-CC73-428A-8FFB-FCE3FAFF4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092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62608-6DAC-0478-0310-525A3EEB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C4189E-8A98-7841-1C32-8B3CAB9F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6D78C-5537-8D22-7C84-1EC2ECB92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512D33-4D3C-9EB2-A5F6-3F9E62478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F1220B-573A-3004-A943-A11B54E3B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80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DDD7DE-3842-9FEA-D60A-00070C3EBD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A7041C-F273-753B-10FE-A19891FDC9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77274-8911-B938-8385-BF3D8E1BC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AEE88-2280-56F6-4EC8-0C592BCDF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33089-2C8D-E995-389F-71D5DD0B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30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E5421C-3660-8CAE-F3E2-D198DB71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F4043-4B75-B9B5-0574-1FE1EA7166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34229-6594-B07B-D1FE-2F79522086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A78ED-B98F-42E9-8346-8CC44BF90042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7214C-78C2-C383-EE07-B68C25FC25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34BC1-2AF7-DAE7-A581-F58F50D5AA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239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C3220-A056-6C5B-F868-8549B62337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Changes in Standardized KIM-1 and NGAL Among AKI and no-AKI Patients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DDC1A0-738E-CCE6-EF1E-3E6C734A56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270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7A20F-7497-3539-AF21-6D7C37DE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T1 for AKI vs. no-AKI Patients</a:t>
            </a:r>
          </a:p>
        </p:txBody>
      </p:sp>
      <p:pic>
        <p:nvPicPr>
          <p:cNvPr id="13" name="Picture 12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8B3989F9-10A9-C885-5A09-E085D2F62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6980" y="1917241"/>
            <a:ext cx="4572000" cy="4572000"/>
          </a:xfrm>
          <a:prstGeom prst="rect">
            <a:avLst/>
          </a:prstGeom>
        </p:spPr>
      </p:pic>
      <p:pic>
        <p:nvPicPr>
          <p:cNvPr id="21" name="Content Placeholder 20" descr="A graph of a patient&#10;&#10;AI-generated content may be incorrect.">
            <a:extLst>
              <a:ext uri="{FF2B5EF4-FFF2-40B4-BE49-F238E27FC236}">
                <a16:creationId xmlns:a16="http://schemas.microsoft.com/office/drawing/2014/main" id="{D915DFDB-29C1-EED5-84EB-658BACB4F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84" y="2027572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30508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62C2A-3FFA-E767-7FDA-71ED59154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T2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B634D3EE-639B-18B0-D1F6-12DCAB6142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021" y="1920875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32333198-B0E8-D9BE-FE86-A61E2AC702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979" y="19208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41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76FF7-0453-4A66-DAA1-8EFA76FA4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T3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2D325ADE-FEEC-8137-1489-8D37D2DBC7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636" y="1727326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8FC6160F-5CE0-F4EC-DFFB-5A16F17CC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1028" y="161699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925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CCBA1-FEA9-D8D7-756A-EA6234C8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T4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A5491F22-0F91-F46C-8B6F-22CFAD6BDE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24" y="1690688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57165E7B-5F63-7E6C-4FF1-557E97A4C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862" y="1690688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208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09B1B-B20F-9786-9D23-D61EA8249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Boxplots for Change in Standardized KIM-1 at T1-T4 for AKI vs. no-AKI Patients</a:t>
            </a:r>
          </a:p>
        </p:txBody>
      </p:sp>
      <p:pic>
        <p:nvPicPr>
          <p:cNvPr id="5" name="Content Placeholder 4" descr="A graph with a number of boxes&#10;&#10;AI-generated content may be incorrect.">
            <a:extLst>
              <a:ext uri="{FF2B5EF4-FFF2-40B4-BE49-F238E27FC236}">
                <a16:creationId xmlns:a16="http://schemas.microsoft.com/office/drawing/2014/main" id="{6C9AA699-91E0-2E20-B042-EB8BC5863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356" y="1943609"/>
            <a:ext cx="9065287" cy="4351338"/>
          </a:xfrm>
        </p:spPr>
      </p:pic>
    </p:spTree>
    <p:extLst>
      <p:ext uri="{BB962C8B-B14F-4D97-AF65-F5344CB8AC3E}">
        <p14:creationId xmlns:p14="http://schemas.microsoft.com/office/powerpoint/2010/main" val="3805724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10FD9-4CE3-EBCA-D4D4-15DB19787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T1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EBEEE7AB-03C7-D6E9-9B7C-B1CA32E4AF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001" y="2007476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FAA773F1-2533-ABB2-593A-2E4045204B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578" y="189714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458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45F7D-9DF7-243A-B932-BEF9BBE74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T2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CAB6B1D9-7D73-367D-D01D-1620FE35CF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608" y="1882682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E9FC0791-9B98-8B64-CA02-ED1B94FB05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3056" y="1772351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102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A5F9E-4776-0FE4-D1E7-FDC35F6D6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T3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6C14FCC2-F59D-D6B5-B033-CCF182F94D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819" y="2008207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239FE873-CF6B-1809-5751-1C2544C2F6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9845" y="178754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5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27DFD-1410-975A-7D20-F29BF08A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T4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5B79D597-FE93-DFE2-605D-E548A23B9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028" y="1911350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BABFD9B6-B0C7-BDD1-C404-193A6242DA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973" y="1801019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763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0D3F4-346E-B3A6-F334-96C6A32D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Boxplots for Change in Standardized NGAL at T1-T4 for AKI vs. no-AKI Patients</a:t>
            </a:r>
          </a:p>
        </p:txBody>
      </p:sp>
      <p:pic>
        <p:nvPicPr>
          <p:cNvPr id="5" name="Content Placeholder 4" descr="A graph of a bar chart&#10;&#10;AI-generated content may be incorrect.">
            <a:extLst>
              <a:ext uri="{FF2B5EF4-FFF2-40B4-BE49-F238E27FC236}">
                <a16:creationId xmlns:a16="http://schemas.microsoft.com/office/drawing/2014/main" id="{AA302B33-23C7-7CD2-6B9E-262FF7A2F9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356" y="1943213"/>
            <a:ext cx="9065287" cy="4351338"/>
          </a:xfrm>
        </p:spPr>
      </p:pic>
    </p:spTree>
    <p:extLst>
      <p:ext uri="{BB962C8B-B14F-4D97-AF65-F5344CB8AC3E}">
        <p14:creationId xmlns:p14="http://schemas.microsoft.com/office/powerpoint/2010/main" val="1377604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06488-478F-7C11-1EB2-6395CA6A1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Standardized NGAL from Baseline Over Time for AKI and no AKI populations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EAC5F1-CEA7-990D-D387-76BD68C2AE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7339" y="1827037"/>
            <a:ext cx="4665839" cy="4665839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B9E1B0-4B5A-6AD9-2547-A0C5C8B9A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823" y="1827037"/>
            <a:ext cx="4665838" cy="4665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874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6D5D28-BC79-E372-7429-BA9CC9886B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93"/>
            <a:ext cx="10515600" cy="1325563"/>
          </a:xfrm>
        </p:spPr>
        <p:txBody>
          <a:bodyPr/>
          <a:lstStyle/>
          <a:p>
            <a:r>
              <a:rPr lang="en-US" dirty="0"/>
              <a:t>Standardized NGAL from Baseline Over Time for AKI and no AKI populations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EB16B30-3637-1169-5D80-FCB398650A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7501" y="1359297"/>
            <a:ext cx="5417110" cy="541711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E917B1D-916B-FCDC-31A9-46737819E7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536" y="1359297"/>
            <a:ext cx="5417110" cy="5417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3232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26BF2-0B08-A871-45F3-11B2C194F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Standardized NGAL from Baseline Over Time for AKI and no AKI populations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0929F5F-FEAA-CFF7-9916-DE0B0A9E5C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7628" y="1569532"/>
            <a:ext cx="5044499" cy="5044499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0FA5CC3-63F0-53E2-03DE-A81441D1B0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851" y="1569532"/>
            <a:ext cx="5044499" cy="5044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6005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20239-AA03-957E-0098-52A860E40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Standardized NGAL at T4 for AKI and no AKI populations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466939C-DA2B-820B-5C89-5724C72A5E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1186" y="1690688"/>
            <a:ext cx="4802187" cy="480218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DA9EA1-979B-B87C-0C22-135E81FF22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199" y="1632640"/>
            <a:ext cx="4860235" cy="4860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6711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B5EF6-AD4E-DB4C-28E5-17C07B557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Mediation Analysis when using standardized NGAL at T3 as the mediating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AB8C0-D585-C670-017C-DFC0E35AD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Analysis of effect of hypoxia on AKI when NGAL is the mediating variable</a:t>
            </a:r>
          </a:p>
          <a:p>
            <a:r>
              <a:rPr lang="en-US" dirty="0"/>
              <a:t>Total effect: 0.17 (0.00, 0.36)</a:t>
            </a:r>
          </a:p>
          <a:p>
            <a:r>
              <a:rPr lang="en-US" dirty="0"/>
              <a:t>Indirect effect: 0.00 (-0.19, 0.20)</a:t>
            </a:r>
          </a:p>
          <a:p>
            <a:r>
              <a:rPr lang="en-US" dirty="0"/>
              <a:t>Direct effect: 0.16 (0.02, 0.32)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691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2378D-D535-BF74-8423-9FC7090B2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59C6-6E79-930F-5DC3-3F5B18F8A2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Mediation Analysis when using standardized NGAL at T4 as the mediating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676C5-DBC8-A151-C977-C2C888850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Analysis of effect of hypoxia on AKI when NGAL is the mediating variable</a:t>
            </a:r>
          </a:p>
          <a:p>
            <a:r>
              <a:rPr lang="en-US" dirty="0"/>
              <a:t>Total effect: 0.16 (0.00, 0.33)</a:t>
            </a:r>
          </a:p>
          <a:p>
            <a:r>
              <a:rPr lang="en-US" dirty="0"/>
              <a:t>Indirect effect: -0.07 (-0.31, 0.15)</a:t>
            </a:r>
          </a:p>
          <a:p>
            <a:r>
              <a:rPr lang="en-US" dirty="0"/>
              <a:t>Direct effect: 0.23 (0.06, 0.43)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95088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2A55A-A7DC-AFA9-3B7D-D0F2446F0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means and standard deviations for standardized KIM-1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9A1D459-206A-A464-BFFC-9F35D5E565D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85218833"/>
              </p:ext>
            </p:extLst>
          </p:nvPr>
        </p:nvGraphicFramePr>
        <p:xfrm>
          <a:off x="2193437" y="1836871"/>
          <a:ext cx="7266250" cy="5021129"/>
        </p:xfrm>
        <a:graphic>
          <a:graphicData uri="http://schemas.openxmlformats.org/drawingml/2006/table">
            <a:tbl>
              <a:tblPr/>
              <a:tblGrid>
                <a:gridCol w="1453250">
                  <a:extLst>
                    <a:ext uri="{9D8B030D-6E8A-4147-A177-3AD203B41FA5}">
                      <a16:colId xmlns:a16="http://schemas.microsoft.com/office/drawing/2014/main" val="3446865942"/>
                    </a:ext>
                  </a:extLst>
                </a:gridCol>
                <a:gridCol w="1453250">
                  <a:extLst>
                    <a:ext uri="{9D8B030D-6E8A-4147-A177-3AD203B41FA5}">
                      <a16:colId xmlns:a16="http://schemas.microsoft.com/office/drawing/2014/main" val="3574628699"/>
                    </a:ext>
                  </a:extLst>
                </a:gridCol>
                <a:gridCol w="1453250">
                  <a:extLst>
                    <a:ext uri="{9D8B030D-6E8A-4147-A177-3AD203B41FA5}">
                      <a16:colId xmlns:a16="http://schemas.microsoft.com/office/drawing/2014/main" val="3661909069"/>
                    </a:ext>
                  </a:extLst>
                </a:gridCol>
                <a:gridCol w="1453250">
                  <a:extLst>
                    <a:ext uri="{9D8B030D-6E8A-4147-A177-3AD203B41FA5}">
                      <a16:colId xmlns:a16="http://schemas.microsoft.com/office/drawing/2014/main" val="2404674273"/>
                    </a:ext>
                  </a:extLst>
                </a:gridCol>
                <a:gridCol w="1453250">
                  <a:extLst>
                    <a:ext uri="{9D8B030D-6E8A-4147-A177-3AD203B41FA5}">
                      <a16:colId xmlns:a16="http://schemas.microsoft.com/office/drawing/2014/main" val="3639897306"/>
                    </a:ext>
                  </a:extLst>
                </a:gridCol>
              </a:tblGrid>
              <a:tr h="327053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Standardized KIM-1</a:t>
                      </a:r>
                    </a:p>
                  </a:txBody>
                  <a:tcPr marL="3826" marR="3826" marT="3826" marB="3826" anchor="ctr">
                    <a:lnL>
                      <a:noFill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b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Delta-T1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Delta-T2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Delta-T3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Delta-T4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2450954533"/>
                  </a:ext>
                </a:extLst>
              </a:tr>
              <a:tr h="629702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Sample mean for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16.9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17.1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7.40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69.7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3564731"/>
                  </a:ext>
                </a:extLst>
              </a:tr>
              <a:tr h="753917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Sample standard deviation for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19.3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18.4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13.3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47.2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4533532"/>
                  </a:ext>
                </a:extLst>
              </a:tr>
              <a:tr h="878132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95% Confidence Interval for Mean of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(6.69, 27.21)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(7.25, 26.88)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(0.34, 14.47)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(43.61, 95.86)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2490388"/>
                  </a:ext>
                </a:extLst>
              </a:tr>
              <a:tr h="629702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Sample mean for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no-AKI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12.3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14.2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4.04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47.7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2956143"/>
                  </a:ext>
                </a:extLst>
              </a:tr>
              <a:tr h="753917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Sample standard deviation for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no-AKI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27.0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35.61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11.79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43.8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0481854"/>
                  </a:ext>
                </a:extLst>
              </a:tr>
              <a:tr h="1002347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95% Confidence Interval for Mean of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no-AKI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(7.59, 16.96)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(8.03, 20.44)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(2.00, 6.08)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(39.82, 55.65)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9504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3360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34C5B-6D84-EEF4-6CD4-292D0B9B2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means and standard deviations for standardized NGAL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8CB372-84A7-F22F-4760-54E51D6BF4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550B69-A01B-4C5B-AAF6-47845C9ED8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4225221"/>
              </p:ext>
            </p:extLst>
          </p:nvPr>
        </p:nvGraphicFramePr>
        <p:xfrm>
          <a:off x="1458685" y="1923597"/>
          <a:ext cx="9274630" cy="4684656"/>
        </p:xfrm>
        <a:graphic>
          <a:graphicData uri="http://schemas.openxmlformats.org/drawingml/2006/table">
            <a:tbl>
              <a:tblPr/>
              <a:tblGrid>
                <a:gridCol w="1854926">
                  <a:extLst>
                    <a:ext uri="{9D8B030D-6E8A-4147-A177-3AD203B41FA5}">
                      <a16:colId xmlns:a16="http://schemas.microsoft.com/office/drawing/2014/main" val="2387101398"/>
                    </a:ext>
                  </a:extLst>
                </a:gridCol>
                <a:gridCol w="1854926">
                  <a:extLst>
                    <a:ext uri="{9D8B030D-6E8A-4147-A177-3AD203B41FA5}">
                      <a16:colId xmlns:a16="http://schemas.microsoft.com/office/drawing/2014/main" val="3242198091"/>
                    </a:ext>
                  </a:extLst>
                </a:gridCol>
                <a:gridCol w="1854926">
                  <a:extLst>
                    <a:ext uri="{9D8B030D-6E8A-4147-A177-3AD203B41FA5}">
                      <a16:colId xmlns:a16="http://schemas.microsoft.com/office/drawing/2014/main" val="1361804479"/>
                    </a:ext>
                  </a:extLst>
                </a:gridCol>
                <a:gridCol w="1854926">
                  <a:extLst>
                    <a:ext uri="{9D8B030D-6E8A-4147-A177-3AD203B41FA5}">
                      <a16:colId xmlns:a16="http://schemas.microsoft.com/office/drawing/2014/main" val="128015086"/>
                    </a:ext>
                  </a:extLst>
                </a:gridCol>
                <a:gridCol w="1854926">
                  <a:extLst>
                    <a:ext uri="{9D8B030D-6E8A-4147-A177-3AD203B41FA5}">
                      <a16:colId xmlns:a16="http://schemas.microsoft.com/office/drawing/2014/main" val="3272910379"/>
                    </a:ext>
                  </a:extLst>
                </a:gridCol>
              </a:tblGrid>
              <a:tr h="349089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effectLst/>
                        </a:rPr>
                        <a:t>Standardized NGAL</a:t>
                      </a:r>
                    </a:p>
                  </a:txBody>
                  <a:tcPr marL="3826" marR="3826" marT="3826" marB="3826" anchor="ctr">
                    <a:lnL>
                      <a:noFill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b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</a:b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Delta-T1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Delta-T2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Delta-T3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Delta-T4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95422839"/>
                  </a:ext>
                </a:extLst>
              </a:tr>
              <a:tr h="582560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Sample mean for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10,100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33,800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44,100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941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3942964"/>
                  </a:ext>
                </a:extLst>
              </a:tr>
              <a:tr h="697475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Sample standard deviation for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19,100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50,200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62,700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1,288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7103464"/>
                  </a:ext>
                </a:extLst>
              </a:tr>
              <a:tr h="823867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95% Confidence Interval for Mean of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(0, 20,300)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(7,000, 60,500)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(10,800, 77,500)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(227, 1,650)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92334"/>
                  </a:ext>
                </a:extLst>
              </a:tr>
              <a:tr h="582560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Sample mean for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no-AKI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6,630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18,200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14,600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297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6602745"/>
                  </a:ext>
                </a:extLst>
              </a:tr>
              <a:tr h="697475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Sample standard deviation for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no-AKI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21,700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39,000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30,000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853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7317150"/>
                  </a:ext>
                </a:extLst>
              </a:tr>
              <a:tr h="927307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95% Confidence Interval for Mean of </a:t>
                      </a:r>
                      <a:r>
                        <a:rPr lang="en-US" sz="1200" b="1">
                          <a:solidFill>
                            <a:srgbClr val="000000"/>
                          </a:solidFill>
                          <a:effectLst/>
                        </a:rPr>
                        <a:t>no-AKI</a:t>
                      </a: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 Population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(2,870, 10,400)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(11,400, 25,000)</a:t>
                      </a:r>
                      <a:endParaRPr lang="en-US" sz="120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(9,350, 19,800)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(143, 452)</a:t>
                      </a:r>
                      <a:endParaRPr lang="en-US" sz="1200" dirty="0">
                        <a:effectLst/>
                      </a:endParaRPr>
                    </a:p>
                  </a:txBody>
                  <a:tcPr marL="3826" marR="3826" marT="3826" marB="3826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36715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48636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908718-0F08-68AC-BDF9-902FFC2F1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Tables of medians, 25th percentiles, and 75</a:t>
            </a:r>
            <a:r>
              <a:rPr lang="en-US" baseline="30000" dirty="0"/>
              <a:t>th</a:t>
            </a:r>
            <a:r>
              <a:rPr lang="en-US" dirty="0"/>
              <a:t> percentiles for standardized KIM-1 and NGAL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0145003-1AD9-F0A2-594F-A104048BB0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02205319"/>
              </p:ext>
            </p:extLst>
          </p:nvPr>
        </p:nvGraphicFramePr>
        <p:xfrm>
          <a:off x="1474854" y="1839833"/>
          <a:ext cx="4621145" cy="4368110"/>
        </p:xfrm>
        <a:graphic>
          <a:graphicData uri="http://schemas.openxmlformats.org/drawingml/2006/table">
            <a:tbl>
              <a:tblPr/>
              <a:tblGrid>
                <a:gridCol w="924229">
                  <a:extLst>
                    <a:ext uri="{9D8B030D-6E8A-4147-A177-3AD203B41FA5}">
                      <a16:colId xmlns:a16="http://schemas.microsoft.com/office/drawing/2014/main" val="1894970385"/>
                    </a:ext>
                  </a:extLst>
                </a:gridCol>
                <a:gridCol w="924229">
                  <a:extLst>
                    <a:ext uri="{9D8B030D-6E8A-4147-A177-3AD203B41FA5}">
                      <a16:colId xmlns:a16="http://schemas.microsoft.com/office/drawing/2014/main" val="2742312393"/>
                    </a:ext>
                  </a:extLst>
                </a:gridCol>
                <a:gridCol w="924229">
                  <a:extLst>
                    <a:ext uri="{9D8B030D-6E8A-4147-A177-3AD203B41FA5}">
                      <a16:colId xmlns:a16="http://schemas.microsoft.com/office/drawing/2014/main" val="1530252906"/>
                    </a:ext>
                  </a:extLst>
                </a:gridCol>
                <a:gridCol w="924229">
                  <a:extLst>
                    <a:ext uri="{9D8B030D-6E8A-4147-A177-3AD203B41FA5}">
                      <a16:colId xmlns:a16="http://schemas.microsoft.com/office/drawing/2014/main" val="2761745747"/>
                    </a:ext>
                  </a:extLst>
                </a:gridCol>
                <a:gridCol w="924229">
                  <a:extLst>
                    <a:ext uri="{9D8B030D-6E8A-4147-A177-3AD203B41FA5}">
                      <a16:colId xmlns:a16="http://schemas.microsoft.com/office/drawing/2014/main" val="2449344395"/>
                    </a:ext>
                  </a:extLst>
                </a:gridCol>
              </a:tblGrid>
              <a:tr h="3492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242424"/>
                          </a:solidFill>
                          <a:effectLst/>
                          <a:latin typeface="Aptos" panose="020B0004020202020204" pitchFamily="34" charset="0"/>
                        </a:rPr>
                        <a:t>Standardized KIM-1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Delta-T1</a:t>
                      </a:r>
                      <a:endParaRPr lang="en-US" sz="1200">
                        <a:effectLst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Delta-T2</a:t>
                      </a:r>
                      <a:endParaRPr lang="en-US" sz="1200">
                        <a:effectLst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effectLst/>
                        </a:rPr>
                        <a:t>Delta-T3</a:t>
                      </a:r>
                      <a:endParaRPr lang="en-US" sz="1200">
                        <a:effectLst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effectLst/>
                        </a:rPr>
                        <a:t>Delta-T4</a:t>
                      </a:r>
                      <a:endParaRPr lang="en-US" sz="1200" dirty="0">
                        <a:effectLst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6464793"/>
                  </a:ext>
                </a:extLst>
              </a:tr>
              <a:tr h="681139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Sample median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12.54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12.98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2.27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58.12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1266717"/>
                  </a:ext>
                </a:extLst>
              </a:tr>
              <a:tr h="681139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Sample (Q1, Q3)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(2.38, 22.41)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(8.86, 15.29)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(0.92, 9.37)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(32.77, 88.74)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721490"/>
                  </a:ext>
                </a:extLst>
              </a:tr>
              <a:tr h="596429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Q3-Q1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20.03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6.43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8.45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55.97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578916"/>
                  </a:ext>
                </a:extLst>
              </a:tr>
              <a:tr h="847102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Sample median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no-AKI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6.26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6.82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2.98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37.55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1191011"/>
                  </a:ext>
                </a:extLst>
              </a:tr>
              <a:tr h="681139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Sample (Q1, Q3)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no-AKI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(1.68, 13.06)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(2.28, 14.33)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(-0.28, 6.20)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(20.86, 57.80)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9082496"/>
                  </a:ext>
                </a:extLst>
              </a:tr>
              <a:tr h="515176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Q3-Q1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no-AKI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11.38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12.05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6.48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36.94</a:t>
                      </a:r>
                      <a:endParaRPr lang="en-US" sz="11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968368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A08C893-B9DD-7237-ED82-CB2D342BD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8944038"/>
              </p:ext>
            </p:extLst>
          </p:nvPr>
        </p:nvGraphicFramePr>
        <p:xfrm>
          <a:off x="6395197" y="1839832"/>
          <a:ext cx="4838860" cy="4361401"/>
        </p:xfrm>
        <a:graphic>
          <a:graphicData uri="http://schemas.openxmlformats.org/drawingml/2006/table">
            <a:tbl>
              <a:tblPr/>
              <a:tblGrid>
                <a:gridCol w="967772">
                  <a:extLst>
                    <a:ext uri="{9D8B030D-6E8A-4147-A177-3AD203B41FA5}">
                      <a16:colId xmlns:a16="http://schemas.microsoft.com/office/drawing/2014/main" val="426142859"/>
                    </a:ext>
                  </a:extLst>
                </a:gridCol>
                <a:gridCol w="967772">
                  <a:extLst>
                    <a:ext uri="{9D8B030D-6E8A-4147-A177-3AD203B41FA5}">
                      <a16:colId xmlns:a16="http://schemas.microsoft.com/office/drawing/2014/main" val="670153980"/>
                    </a:ext>
                  </a:extLst>
                </a:gridCol>
                <a:gridCol w="967772">
                  <a:extLst>
                    <a:ext uri="{9D8B030D-6E8A-4147-A177-3AD203B41FA5}">
                      <a16:colId xmlns:a16="http://schemas.microsoft.com/office/drawing/2014/main" val="1217527318"/>
                    </a:ext>
                  </a:extLst>
                </a:gridCol>
                <a:gridCol w="967772">
                  <a:extLst>
                    <a:ext uri="{9D8B030D-6E8A-4147-A177-3AD203B41FA5}">
                      <a16:colId xmlns:a16="http://schemas.microsoft.com/office/drawing/2014/main" val="3661874509"/>
                    </a:ext>
                  </a:extLst>
                </a:gridCol>
                <a:gridCol w="967772">
                  <a:extLst>
                    <a:ext uri="{9D8B030D-6E8A-4147-A177-3AD203B41FA5}">
                      <a16:colId xmlns:a16="http://schemas.microsoft.com/office/drawing/2014/main" val="878475373"/>
                    </a:ext>
                  </a:extLst>
                </a:gridCol>
              </a:tblGrid>
              <a:tr h="34921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>
                          <a:solidFill>
                            <a:srgbClr val="242424"/>
                          </a:solidFill>
                          <a:effectLst/>
                          <a:latin typeface="Aptos" panose="020B0004020202020204" pitchFamily="34" charset="0"/>
                        </a:rPr>
                        <a:t>Standardized NGAL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Delta-T1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Delta-T2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Delta-T3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Delta-T4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775288"/>
                  </a:ext>
                </a:extLst>
              </a:tr>
              <a:tr h="681139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Sample median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667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2,610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13,400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482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9743315"/>
                  </a:ext>
                </a:extLst>
              </a:tr>
              <a:tr h="681139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Sample (Q1, Q3)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(212, 6,330)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(501, 66,000)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(319, 58,500)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(392, 1,030)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5177369"/>
                  </a:ext>
                </a:extLst>
              </a:tr>
              <a:tr h="596429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Q3-Q1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6,118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65,499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58,181</a:t>
                      </a:r>
                      <a:endParaRPr lang="en-US" sz="11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638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3728967"/>
                  </a:ext>
                </a:extLst>
              </a:tr>
              <a:tr h="847102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Sample median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no-AKI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167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632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1,110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231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924504"/>
                  </a:ext>
                </a:extLst>
              </a:tr>
              <a:tr h="681139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Sample (Q1, Q3)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no-AKI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(11.0, 1,560)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(85.5, 15,300)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(115, 11,600)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(71.1, 544)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65907638"/>
                  </a:ext>
                </a:extLst>
              </a:tr>
              <a:tr h="515176"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Q3-Q1 for </a:t>
                      </a:r>
                      <a:r>
                        <a:rPr lang="en-US" sz="1100" b="1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no-AKI</a:t>
                      </a: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 Population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1,549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15,215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11,485</a:t>
                      </a:r>
                      <a:endParaRPr lang="en-US" sz="1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75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</a:rPr>
                        <a:t>472.9</a:t>
                      </a:r>
                      <a:endParaRPr lang="en-US" sz="11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8644" marR="8644" marT="8644" marB="8644" anchor="ctr">
                    <a:lnL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BABA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2146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87071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1053</TotalTime>
  <Words>721</Words>
  <Application>Microsoft Macintosh PowerPoint</Application>
  <PresentationFormat>Widescreen</PresentationFormat>
  <Paragraphs>168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Changes in Standardized KIM-1 and NGAL Among AKI and no-AKI Patients</vt:lpstr>
      <vt:lpstr>Change in Standardized KIM-1 at T1 for AKI vs. no-AKI Patients</vt:lpstr>
      <vt:lpstr>Change in Standardized KIM-1 at T2 for AKI vs. no-AKI Patients</vt:lpstr>
      <vt:lpstr>Change in Standardized KIM-1 at T3 for AKI vs. no-AKI Patients</vt:lpstr>
      <vt:lpstr>Change in Standardized KIM-1 at T4 for AKI vs. no-AKI Patients</vt:lpstr>
      <vt:lpstr>Boxplots for Change in Standardized KIM-1 at T1-T4 for AKI vs. no-AKI Patients</vt:lpstr>
      <vt:lpstr>Change in Standardized NGAL at T1 for AKI vs. no-AKI Patients</vt:lpstr>
      <vt:lpstr>Change in Standardized NGAL at T2 for AKI vs. no-AKI Patients</vt:lpstr>
      <vt:lpstr>Change in Standardized NGAL at T3 for AKI vs. no-AKI Patients</vt:lpstr>
      <vt:lpstr>Change in Standardized NGAL at T4 for AKI vs. no-AKI Patients</vt:lpstr>
      <vt:lpstr>Boxplots for Change in Standardized NGAL at T1-T4 for AKI vs. no-AKI Patients</vt:lpstr>
      <vt:lpstr>Standardized NGAL from Baseline Over Time for AKI and no AKI populations</vt:lpstr>
      <vt:lpstr>Standardized NGAL from Baseline Over Time for AKI and no AKI populations</vt:lpstr>
      <vt:lpstr>Standardized NGAL from Baseline Over Time for AKI and no AKI populations</vt:lpstr>
      <vt:lpstr>Standardized NGAL at T4 for AKI and no AKI populations</vt:lpstr>
      <vt:lpstr>Mediation Analysis when using standardized NGAL at T3 as the mediating variable</vt:lpstr>
      <vt:lpstr>Mediation Analysis when using standardized NGAL at T4 as the mediating variable</vt:lpstr>
      <vt:lpstr>Table of means and standard deviations for standardized KIM-1</vt:lpstr>
      <vt:lpstr>Table of means and standard deviations for standardized NGAL</vt:lpstr>
      <vt:lpstr>Tables of medians, 25th percentiles, and 75th percentiles for standardized KIM-1 and NGAL</vt:lpstr>
    </vt:vector>
  </TitlesOfParts>
  <Company>Johns Hopkins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M Chen</dc:creator>
  <cp:lastModifiedBy>Jacob Chen</cp:lastModifiedBy>
  <cp:revision>20</cp:revision>
  <dcterms:created xsi:type="dcterms:W3CDTF">2026-02-18T14:26:23Z</dcterms:created>
  <dcterms:modified xsi:type="dcterms:W3CDTF">2026-03-19T19:15:54Z</dcterms:modified>
</cp:coreProperties>
</file>