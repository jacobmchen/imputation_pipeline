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0" r:id="rId14"/>
    <p:sldId id="271" r:id="rId15"/>
    <p:sldId id="272" r:id="rId16"/>
    <p:sldId id="277" r:id="rId17"/>
    <p:sldId id="287" r:id="rId18"/>
    <p:sldId id="268" r:id="rId19"/>
    <p:sldId id="285" r:id="rId20"/>
    <p:sldId id="286" r:id="rId21"/>
    <p:sldId id="273" r:id="rId22"/>
    <p:sldId id="278" r:id="rId23"/>
    <p:sldId id="279" r:id="rId24"/>
    <p:sldId id="281" r:id="rId25"/>
    <p:sldId id="284" r:id="rId26"/>
    <p:sldId id="282" r:id="rId27"/>
    <p:sldId id="283" r:id="rId28"/>
    <p:sldId id="275" r:id="rId29"/>
    <p:sldId id="276" r:id="rId30"/>
    <p:sldId id="274"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188"/>
    <p:restoredTop sz="94658"/>
  </p:normalViewPr>
  <p:slideViewPr>
    <p:cSldViewPr snapToGrid="0">
      <p:cViewPr varScale="1">
        <p:scale>
          <a:sx n="114" d="100"/>
          <a:sy n="114" d="100"/>
        </p:scale>
        <p:origin x="200" y="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5B5402-42E6-5E49-8D82-6B8DE9011435}" type="datetimeFigureOut">
              <a:rPr lang="en-US" smtClean="0"/>
              <a:t>5/6/26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7F743E-0916-E544-B2F5-0B2A18BB71CA}" type="slidenum">
              <a:rPr lang="en-US" smtClean="0"/>
              <a:t>‹#›</a:t>
            </a:fld>
            <a:endParaRPr lang="en-US"/>
          </a:p>
        </p:txBody>
      </p:sp>
    </p:spTree>
    <p:extLst>
      <p:ext uri="{BB962C8B-B14F-4D97-AF65-F5344CB8AC3E}">
        <p14:creationId xmlns:p14="http://schemas.microsoft.com/office/powerpoint/2010/main" val="23405638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7F743E-0916-E544-B2F5-0B2A18BB71CA}" type="slidenum">
              <a:rPr lang="en-US" smtClean="0"/>
              <a:t>27</a:t>
            </a:fld>
            <a:endParaRPr lang="en-US"/>
          </a:p>
        </p:txBody>
      </p:sp>
    </p:spTree>
    <p:extLst>
      <p:ext uri="{BB962C8B-B14F-4D97-AF65-F5344CB8AC3E}">
        <p14:creationId xmlns:p14="http://schemas.microsoft.com/office/powerpoint/2010/main" val="28752227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0CBC5-2798-EACB-071B-BF4336ADF1A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10661F-9120-EF7C-5705-60E53A8E7C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77C6372-3F3E-B2B9-390D-AB855EE29C18}"/>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5" name="Footer Placeholder 4">
            <a:extLst>
              <a:ext uri="{FF2B5EF4-FFF2-40B4-BE49-F238E27FC236}">
                <a16:creationId xmlns:a16="http://schemas.microsoft.com/office/drawing/2014/main" id="{F3543B80-6693-634D-6A0C-D31241078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FC6CDB-6AC1-C2BB-579A-CDEAC6190759}"/>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10059904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AC3DD-6756-4703-0C34-E1ABDD0523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F1F86D-765B-EDE3-2E42-75CC0F4A0CC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97AE45-35F0-E519-C2B0-1035B776D3A0}"/>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5" name="Footer Placeholder 4">
            <a:extLst>
              <a:ext uri="{FF2B5EF4-FFF2-40B4-BE49-F238E27FC236}">
                <a16:creationId xmlns:a16="http://schemas.microsoft.com/office/drawing/2014/main" id="{845A755E-798B-B224-92D7-D9FF71FFAE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928273-CAE2-5B61-A275-5733ACAFB2B8}"/>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3288712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F7FB3-955D-3334-A5D9-704F4CC44A8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F07098-D990-8D6D-BDE2-3057BD55FC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6B60CE1-E948-0666-D27B-127F90888126}"/>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5" name="Footer Placeholder 4">
            <a:extLst>
              <a:ext uri="{FF2B5EF4-FFF2-40B4-BE49-F238E27FC236}">
                <a16:creationId xmlns:a16="http://schemas.microsoft.com/office/drawing/2014/main" id="{27930FA7-B9D2-C831-C70B-7C2215CAED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3B8010-E1C0-EC0F-2CF0-C45CF73E3BF1}"/>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2268932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68EC6-9EDE-CA3A-BDB4-BCC988CC79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352D70-F786-F27F-76CC-9E272B63AA8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0480CA-E910-4ACA-61B5-CBBA6C9996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C2CDD-A885-7C69-682F-06F7AFB6D95C}"/>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6" name="Footer Placeholder 5">
            <a:extLst>
              <a:ext uri="{FF2B5EF4-FFF2-40B4-BE49-F238E27FC236}">
                <a16:creationId xmlns:a16="http://schemas.microsoft.com/office/drawing/2014/main" id="{78840781-337B-9604-D975-42479F3069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7558D5-40A9-5141-C70D-859E297716BF}"/>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34472555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F3ADA-CAFF-B1D1-D15D-B13A49CA03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915E250-A56F-BC34-F39F-02D64F4C790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31B81C-8FA3-05BA-F140-B2A468F38C4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90FBF7-4F39-F8CA-BF55-5EC5C76EA5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2D9BB7-7CDF-7393-D2ED-16C128A616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AD0EB4-993D-F0E4-9341-68A44309F541}"/>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8" name="Footer Placeholder 7">
            <a:extLst>
              <a:ext uri="{FF2B5EF4-FFF2-40B4-BE49-F238E27FC236}">
                <a16:creationId xmlns:a16="http://schemas.microsoft.com/office/drawing/2014/main" id="{4A8FAB9F-5BF6-DA35-11EB-1A92BEED5D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BE65F3E-E806-4963-A9B8-5DE41398EC55}"/>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2951183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A9F88-3262-5A73-E620-36C850CC32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CCD06BD-0F4A-41E1-43E2-7DBE97ACA55A}"/>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4" name="Footer Placeholder 3">
            <a:extLst>
              <a:ext uri="{FF2B5EF4-FFF2-40B4-BE49-F238E27FC236}">
                <a16:creationId xmlns:a16="http://schemas.microsoft.com/office/drawing/2014/main" id="{E780D8B6-CC1A-34FA-528F-EDCBF21515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A73ACE-BCD7-4635-8E2C-87A77205DDDC}"/>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366412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A85573-E758-0C07-66DE-0A30EFD7EB48}"/>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3" name="Footer Placeholder 2">
            <a:extLst>
              <a:ext uri="{FF2B5EF4-FFF2-40B4-BE49-F238E27FC236}">
                <a16:creationId xmlns:a16="http://schemas.microsoft.com/office/drawing/2014/main" id="{4A93C880-7501-6A74-67FA-526D2AD9760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3BD9024-FCBF-1730-E299-6FDC6E9DFD84}"/>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1126741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E7DF2-747C-9F7F-D43E-21CA562E2B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95AE1D-8A98-BC46-81D0-F104855E38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4C46F1-F8E7-7419-717C-FBBFC4B2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1845AC-B6F8-E7EB-A340-8C5041A0297B}"/>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6" name="Footer Placeholder 5">
            <a:extLst>
              <a:ext uri="{FF2B5EF4-FFF2-40B4-BE49-F238E27FC236}">
                <a16:creationId xmlns:a16="http://schemas.microsoft.com/office/drawing/2014/main" id="{74FFF270-A95E-9FEC-B332-97DD73E3BE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62EEE0-4B9B-A461-757E-C2155A29EABF}"/>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118636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4E82-0F55-0B37-DB30-66EF49EEDE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25E6F01-06A9-9FB0-2F42-253E25B5CF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99875C1-8A7E-DAFA-0C6B-80DE2EF3B0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C2A8E0-444A-B79D-CD00-07751E60E1D8}"/>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6" name="Footer Placeholder 5">
            <a:extLst>
              <a:ext uri="{FF2B5EF4-FFF2-40B4-BE49-F238E27FC236}">
                <a16:creationId xmlns:a16="http://schemas.microsoft.com/office/drawing/2014/main" id="{6E5E21B9-3A1F-04F7-72FC-C457C4E36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B03D0B-CC73-428A-8FFB-FCE3FAFF485D}"/>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1685092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62608-6DAC-0478-0310-525A3EEBD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6C4189E-8A98-7841-1C32-8B3CAB9F26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A6D78C-5537-8D22-7C84-1EC2ECB921FB}"/>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5" name="Footer Placeholder 4">
            <a:extLst>
              <a:ext uri="{FF2B5EF4-FFF2-40B4-BE49-F238E27FC236}">
                <a16:creationId xmlns:a16="http://schemas.microsoft.com/office/drawing/2014/main" id="{38512D33-4D3C-9EB2-A5F6-3F9E62478D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F1220B-573A-3004-A943-A11B54E3BE62}"/>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264880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DDD7DE-3842-9FEA-D60A-00070C3EBDE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1A7041C-F273-753B-10FE-A19891FDC9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777274-8911-B938-8385-BF3D8E1BCF10}"/>
              </a:ext>
            </a:extLst>
          </p:cNvPr>
          <p:cNvSpPr>
            <a:spLocks noGrp="1"/>
          </p:cNvSpPr>
          <p:nvPr>
            <p:ph type="dt" sz="half" idx="10"/>
          </p:nvPr>
        </p:nvSpPr>
        <p:spPr/>
        <p:txBody>
          <a:bodyPr/>
          <a:lstStyle/>
          <a:p>
            <a:fld id="{0A9A78ED-B98F-42E9-8346-8CC44BF90042}" type="datetimeFigureOut">
              <a:rPr lang="en-US" smtClean="0"/>
              <a:t>5/6/26</a:t>
            </a:fld>
            <a:endParaRPr lang="en-US"/>
          </a:p>
        </p:txBody>
      </p:sp>
      <p:sp>
        <p:nvSpPr>
          <p:cNvPr id="5" name="Footer Placeholder 4">
            <a:extLst>
              <a:ext uri="{FF2B5EF4-FFF2-40B4-BE49-F238E27FC236}">
                <a16:creationId xmlns:a16="http://schemas.microsoft.com/office/drawing/2014/main" id="{D09AEE88-2280-56F6-4EC8-0C592BCDFF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C33089-2C8D-E995-389F-71D5DD0B052F}"/>
              </a:ext>
            </a:extLst>
          </p:cNvPr>
          <p:cNvSpPr>
            <a:spLocks noGrp="1"/>
          </p:cNvSpPr>
          <p:nvPr>
            <p:ph type="sldNum" sz="quarter" idx="12"/>
          </p:nvPr>
        </p:nvSpPr>
        <p:spPr/>
        <p:txBody>
          <a:bodyPr/>
          <a:lstStyle/>
          <a:p>
            <a:fld id="{D7FE6EF0-37FF-40B1-A471-9D8A3E635F57}" type="slidenum">
              <a:rPr lang="en-US" smtClean="0"/>
              <a:t>‹#›</a:t>
            </a:fld>
            <a:endParaRPr lang="en-US"/>
          </a:p>
        </p:txBody>
      </p:sp>
    </p:spTree>
    <p:extLst>
      <p:ext uri="{BB962C8B-B14F-4D97-AF65-F5344CB8AC3E}">
        <p14:creationId xmlns:p14="http://schemas.microsoft.com/office/powerpoint/2010/main" val="2131304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AE5421C-3660-8CAE-F3E2-D198DB71DC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E1F4043-4B75-B9B5-0574-1FE1EA7166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734229-6594-B07B-D1FE-2F79522086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9A78ED-B98F-42E9-8346-8CC44BF90042}" type="datetimeFigureOut">
              <a:rPr lang="en-US" smtClean="0"/>
              <a:t>5/6/26</a:t>
            </a:fld>
            <a:endParaRPr lang="en-US"/>
          </a:p>
        </p:txBody>
      </p:sp>
      <p:sp>
        <p:nvSpPr>
          <p:cNvPr id="5" name="Footer Placeholder 4">
            <a:extLst>
              <a:ext uri="{FF2B5EF4-FFF2-40B4-BE49-F238E27FC236}">
                <a16:creationId xmlns:a16="http://schemas.microsoft.com/office/drawing/2014/main" id="{2A27214C-78C2-C383-EE07-B68C25FC25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9734BC1-2AF7-DAE7-A581-F58F50D5AA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FE6EF0-37FF-40B1-A471-9D8A3E635F57}" type="slidenum">
              <a:rPr lang="en-US" smtClean="0"/>
              <a:t>‹#›</a:t>
            </a:fld>
            <a:endParaRPr lang="en-US"/>
          </a:p>
        </p:txBody>
      </p:sp>
    </p:spTree>
    <p:extLst>
      <p:ext uri="{BB962C8B-B14F-4D97-AF65-F5344CB8AC3E}">
        <p14:creationId xmlns:p14="http://schemas.microsoft.com/office/powerpoint/2010/main" val="42402392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C3220-A056-6C5B-F868-8549B6233799}"/>
              </a:ext>
            </a:extLst>
          </p:cNvPr>
          <p:cNvSpPr>
            <a:spLocks noGrp="1"/>
          </p:cNvSpPr>
          <p:nvPr>
            <p:ph type="ctrTitle"/>
          </p:nvPr>
        </p:nvSpPr>
        <p:spPr/>
        <p:txBody>
          <a:bodyPr>
            <a:normAutofit fontScale="90000"/>
          </a:bodyPr>
          <a:lstStyle/>
          <a:p>
            <a:r>
              <a:rPr lang="en-US" dirty="0"/>
              <a:t>Changes in Standardized KIM-1 and NGAL Among AKI and no-AKI Patients</a:t>
            </a:r>
          </a:p>
        </p:txBody>
      </p:sp>
      <p:sp>
        <p:nvSpPr>
          <p:cNvPr id="3" name="Subtitle 2">
            <a:extLst>
              <a:ext uri="{FF2B5EF4-FFF2-40B4-BE49-F238E27FC236}">
                <a16:creationId xmlns:a16="http://schemas.microsoft.com/office/drawing/2014/main" id="{5EDDC1A0-738E-CCE6-EF1E-3E6C734A56A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472705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7A20F-7497-3539-AF21-6D7C37DECEB7}"/>
              </a:ext>
            </a:extLst>
          </p:cNvPr>
          <p:cNvSpPr>
            <a:spLocks noGrp="1"/>
          </p:cNvSpPr>
          <p:nvPr>
            <p:ph type="title"/>
          </p:nvPr>
        </p:nvSpPr>
        <p:spPr/>
        <p:txBody>
          <a:bodyPr/>
          <a:lstStyle/>
          <a:p>
            <a:r>
              <a:rPr lang="en-US" dirty="0"/>
              <a:t>Change in Standardized KIM-1 at T1 for AKI vs. no-AKI Patients</a:t>
            </a:r>
          </a:p>
        </p:txBody>
      </p:sp>
      <p:pic>
        <p:nvPicPr>
          <p:cNvPr id="13" name="Picture 12" descr="A graph of a number of patients&#10;&#10;AI-generated content may be incorrect.">
            <a:extLst>
              <a:ext uri="{FF2B5EF4-FFF2-40B4-BE49-F238E27FC236}">
                <a16:creationId xmlns:a16="http://schemas.microsoft.com/office/drawing/2014/main" id="{8B3989F9-10A9-C885-5A09-E085D2F625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6980" y="1917241"/>
            <a:ext cx="4572000" cy="4572000"/>
          </a:xfrm>
          <a:prstGeom prst="rect">
            <a:avLst/>
          </a:prstGeom>
        </p:spPr>
      </p:pic>
      <p:pic>
        <p:nvPicPr>
          <p:cNvPr id="21" name="Content Placeholder 20" descr="A graph of a patient&#10;&#10;AI-generated content may be incorrect.">
            <a:extLst>
              <a:ext uri="{FF2B5EF4-FFF2-40B4-BE49-F238E27FC236}">
                <a16:creationId xmlns:a16="http://schemas.microsoft.com/office/drawing/2014/main" id="{D915DFDB-29C1-EED5-84EB-658BACB4FBF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403684" y="2027572"/>
            <a:ext cx="4351338" cy="4351338"/>
          </a:xfrm>
        </p:spPr>
      </p:pic>
    </p:spTree>
    <p:extLst>
      <p:ext uri="{BB962C8B-B14F-4D97-AF65-F5344CB8AC3E}">
        <p14:creationId xmlns:p14="http://schemas.microsoft.com/office/powerpoint/2010/main" val="305088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62C2A-3FFA-E767-7FDA-71ED59154DC9}"/>
              </a:ext>
            </a:extLst>
          </p:cNvPr>
          <p:cNvSpPr>
            <a:spLocks noGrp="1"/>
          </p:cNvSpPr>
          <p:nvPr>
            <p:ph type="title"/>
          </p:nvPr>
        </p:nvSpPr>
        <p:spPr/>
        <p:txBody>
          <a:bodyPr/>
          <a:lstStyle/>
          <a:p>
            <a:r>
              <a:rPr lang="en-US" dirty="0"/>
              <a:t>Change in Standardized KIM-1 at T2 for AKI vs. no-AKI Patients</a:t>
            </a:r>
          </a:p>
        </p:txBody>
      </p:sp>
      <p:pic>
        <p:nvPicPr>
          <p:cNvPr id="5" name="Content Placeholder 4" descr="A graph of a patient&#10;&#10;AI-generated content may be incorrect.">
            <a:extLst>
              <a:ext uri="{FF2B5EF4-FFF2-40B4-BE49-F238E27FC236}">
                <a16:creationId xmlns:a16="http://schemas.microsoft.com/office/drawing/2014/main" id="{B634D3EE-639B-18B0-D1F6-12DCAB61420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96021" y="1920875"/>
            <a:ext cx="4351338" cy="4351338"/>
          </a:xfrm>
        </p:spPr>
      </p:pic>
      <p:pic>
        <p:nvPicPr>
          <p:cNvPr id="7" name="Picture 6" descr="A graph of a number of patients&#10;&#10;AI-generated content may be incorrect.">
            <a:extLst>
              <a:ext uri="{FF2B5EF4-FFF2-40B4-BE49-F238E27FC236}">
                <a16:creationId xmlns:a16="http://schemas.microsoft.com/office/drawing/2014/main" id="{32333198-B0E8-D9BE-FE86-A61E2AC702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3979" y="1920875"/>
            <a:ext cx="4572000" cy="4572000"/>
          </a:xfrm>
          <a:prstGeom prst="rect">
            <a:avLst/>
          </a:prstGeom>
        </p:spPr>
      </p:pic>
    </p:spTree>
    <p:extLst>
      <p:ext uri="{BB962C8B-B14F-4D97-AF65-F5344CB8AC3E}">
        <p14:creationId xmlns:p14="http://schemas.microsoft.com/office/powerpoint/2010/main" val="29583416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76FF7-0453-4A66-DAA1-8EFA76FA4127}"/>
              </a:ext>
            </a:extLst>
          </p:cNvPr>
          <p:cNvSpPr>
            <a:spLocks noGrp="1"/>
          </p:cNvSpPr>
          <p:nvPr>
            <p:ph type="title"/>
          </p:nvPr>
        </p:nvSpPr>
        <p:spPr/>
        <p:txBody>
          <a:bodyPr/>
          <a:lstStyle/>
          <a:p>
            <a:r>
              <a:rPr lang="en-US" dirty="0"/>
              <a:t>Change in Standardized KIM-1 at T3 for AKI vs. no-AKI Patients</a:t>
            </a:r>
          </a:p>
        </p:txBody>
      </p:sp>
      <p:pic>
        <p:nvPicPr>
          <p:cNvPr id="5" name="Content Placeholder 4" descr="A graph of a patient&#10;&#10;AI-generated content may be incorrect.">
            <a:extLst>
              <a:ext uri="{FF2B5EF4-FFF2-40B4-BE49-F238E27FC236}">
                <a16:creationId xmlns:a16="http://schemas.microsoft.com/office/drawing/2014/main" id="{2D325ADE-FEEC-8137-1489-8D37D2DBC7D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69636" y="1727326"/>
            <a:ext cx="4351338" cy="4351338"/>
          </a:xfrm>
        </p:spPr>
      </p:pic>
      <p:pic>
        <p:nvPicPr>
          <p:cNvPr id="7" name="Picture 6" descr="A graph of a number of patients&#10;&#10;AI-generated content may be incorrect.">
            <a:extLst>
              <a:ext uri="{FF2B5EF4-FFF2-40B4-BE49-F238E27FC236}">
                <a16:creationId xmlns:a16="http://schemas.microsoft.com/office/drawing/2014/main" id="{8FC6160F-5CE0-F4EC-DFFB-5A16F17CC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1028" y="1616995"/>
            <a:ext cx="4572000" cy="4572000"/>
          </a:xfrm>
          <a:prstGeom prst="rect">
            <a:avLst/>
          </a:prstGeom>
        </p:spPr>
      </p:pic>
    </p:spTree>
    <p:extLst>
      <p:ext uri="{BB962C8B-B14F-4D97-AF65-F5344CB8AC3E}">
        <p14:creationId xmlns:p14="http://schemas.microsoft.com/office/powerpoint/2010/main" val="2197925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CCBA1-FEA9-D8D7-756A-EA6234C854E1}"/>
              </a:ext>
            </a:extLst>
          </p:cNvPr>
          <p:cNvSpPr>
            <a:spLocks noGrp="1"/>
          </p:cNvSpPr>
          <p:nvPr>
            <p:ph type="title"/>
          </p:nvPr>
        </p:nvSpPr>
        <p:spPr/>
        <p:txBody>
          <a:bodyPr/>
          <a:lstStyle/>
          <a:p>
            <a:r>
              <a:rPr lang="en-US" dirty="0"/>
              <a:t>Change in Standardized KIM-1 at T4 for AKI vs. no-AKI Patients</a:t>
            </a:r>
          </a:p>
        </p:txBody>
      </p:sp>
      <p:pic>
        <p:nvPicPr>
          <p:cNvPr id="5" name="Content Placeholder 4" descr="A graph of a number of patients&#10;&#10;AI-generated content may be incorrect.">
            <a:extLst>
              <a:ext uri="{FF2B5EF4-FFF2-40B4-BE49-F238E27FC236}">
                <a16:creationId xmlns:a16="http://schemas.microsoft.com/office/drawing/2014/main" id="{A5491F22-0F91-F46C-8B6F-22CFAD6BDE4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55524" y="1690688"/>
            <a:ext cx="4351338" cy="4351338"/>
          </a:xfrm>
        </p:spPr>
      </p:pic>
      <p:pic>
        <p:nvPicPr>
          <p:cNvPr id="7" name="Picture 6" descr="A graph of a number of patients&#10;&#10;AI-generated content may be incorrect.">
            <a:extLst>
              <a:ext uri="{FF2B5EF4-FFF2-40B4-BE49-F238E27FC236}">
                <a16:creationId xmlns:a16="http://schemas.microsoft.com/office/drawing/2014/main" id="{57165E7B-5F63-7E6C-4FF1-557E97A4CC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0862" y="1690688"/>
            <a:ext cx="4572000" cy="4572000"/>
          </a:xfrm>
          <a:prstGeom prst="rect">
            <a:avLst/>
          </a:prstGeom>
        </p:spPr>
      </p:pic>
    </p:spTree>
    <p:extLst>
      <p:ext uri="{BB962C8B-B14F-4D97-AF65-F5344CB8AC3E}">
        <p14:creationId xmlns:p14="http://schemas.microsoft.com/office/powerpoint/2010/main" val="1848208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09B1B-B20F-9786-9D23-D61EA82498D4}"/>
              </a:ext>
            </a:extLst>
          </p:cNvPr>
          <p:cNvSpPr>
            <a:spLocks noGrp="1"/>
          </p:cNvSpPr>
          <p:nvPr>
            <p:ph type="title"/>
          </p:nvPr>
        </p:nvSpPr>
        <p:spPr/>
        <p:txBody>
          <a:bodyPr/>
          <a:lstStyle/>
          <a:p>
            <a:r>
              <a:rPr lang="en-US" dirty="0"/>
              <a:t>Boxplots for Change in Standardized KIM-1 at T1-T4 for AKI vs. no-AKI Patients</a:t>
            </a:r>
          </a:p>
        </p:txBody>
      </p:sp>
      <p:pic>
        <p:nvPicPr>
          <p:cNvPr id="5" name="Content Placeholder 4" descr="A graph with a number of boxes&#10;&#10;AI-generated content may be incorrect.">
            <a:extLst>
              <a:ext uri="{FF2B5EF4-FFF2-40B4-BE49-F238E27FC236}">
                <a16:creationId xmlns:a16="http://schemas.microsoft.com/office/drawing/2014/main" id="{6C9AA699-91E0-2E20-B042-EB8BC5863D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63356" y="1943609"/>
            <a:ext cx="9065287" cy="4351338"/>
          </a:xfrm>
        </p:spPr>
      </p:pic>
    </p:spTree>
    <p:extLst>
      <p:ext uri="{BB962C8B-B14F-4D97-AF65-F5344CB8AC3E}">
        <p14:creationId xmlns:p14="http://schemas.microsoft.com/office/powerpoint/2010/main" val="38057249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10FD9-4CE3-EBCA-D4D4-15DB19787E84}"/>
              </a:ext>
            </a:extLst>
          </p:cNvPr>
          <p:cNvSpPr>
            <a:spLocks noGrp="1"/>
          </p:cNvSpPr>
          <p:nvPr>
            <p:ph type="title"/>
          </p:nvPr>
        </p:nvSpPr>
        <p:spPr/>
        <p:txBody>
          <a:bodyPr/>
          <a:lstStyle/>
          <a:p>
            <a:r>
              <a:rPr lang="en-US" dirty="0"/>
              <a:t>Change in Standardized NGAL at T1 for AKI vs. no-AKI Patients</a:t>
            </a:r>
          </a:p>
        </p:txBody>
      </p:sp>
      <p:pic>
        <p:nvPicPr>
          <p:cNvPr id="5" name="Content Placeholder 4" descr="A graph of a number of patients&#10;&#10;AI-generated content may be incorrect.">
            <a:extLst>
              <a:ext uri="{FF2B5EF4-FFF2-40B4-BE49-F238E27FC236}">
                <a16:creationId xmlns:a16="http://schemas.microsoft.com/office/drawing/2014/main" id="{EBEEE7AB-03C7-D6E9-9B7C-B1CA32E4AFE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08001" y="2007476"/>
            <a:ext cx="4351338" cy="4351338"/>
          </a:xfrm>
        </p:spPr>
      </p:pic>
      <p:pic>
        <p:nvPicPr>
          <p:cNvPr id="7" name="Picture 6" descr="A graph of a number of patients&#10;&#10;AI-generated content may be incorrect.">
            <a:extLst>
              <a:ext uri="{FF2B5EF4-FFF2-40B4-BE49-F238E27FC236}">
                <a16:creationId xmlns:a16="http://schemas.microsoft.com/office/drawing/2014/main" id="{FAA773F1-2533-ABB2-593A-2E4045204B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2578" y="1897145"/>
            <a:ext cx="4572000" cy="4572000"/>
          </a:xfrm>
          <a:prstGeom prst="rect">
            <a:avLst/>
          </a:prstGeom>
        </p:spPr>
      </p:pic>
    </p:spTree>
    <p:extLst>
      <p:ext uri="{BB962C8B-B14F-4D97-AF65-F5344CB8AC3E}">
        <p14:creationId xmlns:p14="http://schemas.microsoft.com/office/powerpoint/2010/main" val="3743458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45F7D-9DF7-243A-B932-BEF9BBE74D1B}"/>
              </a:ext>
            </a:extLst>
          </p:cNvPr>
          <p:cNvSpPr>
            <a:spLocks noGrp="1"/>
          </p:cNvSpPr>
          <p:nvPr>
            <p:ph type="title"/>
          </p:nvPr>
        </p:nvSpPr>
        <p:spPr/>
        <p:txBody>
          <a:bodyPr/>
          <a:lstStyle/>
          <a:p>
            <a:r>
              <a:rPr lang="en-US" dirty="0"/>
              <a:t>Change in Standardized NGAL at T2 for AKI vs. no-AKI Patients</a:t>
            </a:r>
          </a:p>
        </p:txBody>
      </p:sp>
      <p:pic>
        <p:nvPicPr>
          <p:cNvPr id="5" name="Content Placeholder 4" descr="A graph of a patient&#10;&#10;AI-generated content may be incorrect.">
            <a:extLst>
              <a:ext uri="{FF2B5EF4-FFF2-40B4-BE49-F238E27FC236}">
                <a16:creationId xmlns:a16="http://schemas.microsoft.com/office/drawing/2014/main" id="{CAB6B1D9-7D73-367D-D01D-1620FE35CF0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37608" y="1882682"/>
            <a:ext cx="4351338" cy="4351338"/>
          </a:xfrm>
        </p:spPr>
      </p:pic>
      <p:pic>
        <p:nvPicPr>
          <p:cNvPr id="7" name="Picture 6" descr="A graph of a number of patients&#10;&#10;AI-generated content may be incorrect.">
            <a:extLst>
              <a:ext uri="{FF2B5EF4-FFF2-40B4-BE49-F238E27FC236}">
                <a16:creationId xmlns:a16="http://schemas.microsoft.com/office/drawing/2014/main" id="{E9FC0791-9B98-8B64-CA02-ED1B94FB05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3056" y="1772351"/>
            <a:ext cx="4572000" cy="4572000"/>
          </a:xfrm>
          <a:prstGeom prst="rect">
            <a:avLst/>
          </a:prstGeom>
        </p:spPr>
      </p:pic>
    </p:spTree>
    <p:extLst>
      <p:ext uri="{BB962C8B-B14F-4D97-AF65-F5344CB8AC3E}">
        <p14:creationId xmlns:p14="http://schemas.microsoft.com/office/powerpoint/2010/main" val="509102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A5F9E-4776-0FE4-D1E7-FDC35F6D687E}"/>
              </a:ext>
            </a:extLst>
          </p:cNvPr>
          <p:cNvSpPr>
            <a:spLocks noGrp="1"/>
          </p:cNvSpPr>
          <p:nvPr>
            <p:ph type="title"/>
          </p:nvPr>
        </p:nvSpPr>
        <p:spPr/>
        <p:txBody>
          <a:bodyPr/>
          <a:lstStyle/>
          <a:p>
            <a:r>
              <a:rPr lang="en-US" dirty="0"/>
              <a:t>Change in Standardized NGAL at T3 for AKI vs. no-AKI Patients</a:t>
            </a:r>
          </a:p>
        </p:txBody>
      </p:sp>
      <p:pic>
        <p:nvPicPr>
          <p:cNvPr id="5" name="Content Placeholder 4" descr="A graph of a patient&#10;&#10;AI-generated content may be incorrect.">
            <a:extLst>
              <a:ext uri="{FF2B5EF4-FFF2-40B4-BE49-F238E27FC236}">
                <a16:creationId xmlns:a16="http://schemas.microsoft.com/office/drawing/2014/main" id="{6C14FCC2-F59D-D6B5-B033-CCF182F94DE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90819" y="2008207"/>
            <a:ext cx="4351338" cy="4351338"/>
          </a:xfrm>
        </p:spPr>
      </p:pic>
      <p:pic>
        <p:nvPicPr>
          <p:cNvPr id="7" name="Picture 6" descr="A graph of a number of patients&#10;&#10;AI-generated content may be incorrect.">
            <a:extLst>
              <a:ext uri="{FF2B5EF4-FFF2-40B4-BE49-F238E27FC236}">
                <a16:creationId xmlns:a16="http://schemas.microsoft.com/office/drawing/2014/main" id="{239FE873-CF6B-1809-5751-1C2544C2F6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9845" y="1787545"/>
            <a:ext cx="4572000" cy="4572000"/>
          </a:xfrm>
          <a:prstGeom prst="rect">
            <a:avLst/>
          </a:prstGeom>
        </p:spPr>
      </p:pic>
    </p:spTree>
    <p:extLst>
      <p:ext uri="{BB962C8B-B14F-4D97-AF65-F5344CB8AC3E}">
        <p14:creationId xmlns:p14="http://schemas.microsoft.com/office/powerpoint/2010/main" val="77205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27DFD-1410-975A-7D20-F29BF08A5E9E}"/>
              </a:ext>
            </a:extLst>
          </p:cNvPr>
          <p:cNvSpPr>
            <a:spLocks noGrp="1"/>
          </p:cNvSpPr>
          <p:nvPr>
            <p:ph type="title"/>
          </p:nvPr>
        </p:nvSpPr>
        <p:spPr/>
        <p:txBody>
          <a:bodyPr/>
          <a:lstStyle/>
          <a:p>
            <a:r>
              <a:rPr lang="en-US" dirty="0"/>
              <a:t>Change in Standardized NGAL at T4 for AKI vs. no-AKI Patients</a:t>
            </a:r>
          </a:p>
        </p:txBody>
      </p:sp>
      <p:pic>
        <p:nvPicPr>
          <p:cNvPr id="5" name="Content Placeholder 4" descr="A graph of a number of patients&#10;&#10;AI-generated content may be incorrect.">
            <a:extLst>
              <a:ext uri="{FF2B5EF4-FFF2-40B4-BE49-F238E27FC236}">
                <a16:creationId xmlns:a16="http://schemas.microsoft.com/office/drawing/2014/main" id="{5B79D597-FE93-DFE2-605D-E548A23B927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548028" y="1911350"/>
            <a:ext cx="4351338" cy="4351338"/>
          </a:xfrm>
        </p:spPr>
      </p:pic>
      <p:pic>
        <p:nvPicPr>
          <p:cNvPr id="7" name="Picture 6" descr="A graph of a number of patients&#10;&#10;AI-generated content may be incorrect.">
            <a:extLst>
              <a:ext uri="{FF2B5EF4-FFF2-40B4-BE49-F238E27FC236}">
                <a16:creationId xmlns:a16="http://schemas.microsoft.com/office/drawing/2014/main" id="{BABFD9B6-B0C7-BDD1-C404-193A6242DA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1973" y="1801019"/>
            <a:ext cx="4572000" cy="4572000"/>
          </a:xfrm>
          <a:prstGeom prst="rect">
            <a:avLst/>
          </a:prstGeom>
        </p:spPr>
      </p:pic>
    </p:spTree>
    <p:extLst>
      <p:ext uri="{BB962C8B-B14F-4D97-AF65-F5344CB8AC3E}">
        <p14:creationId xmlns:p14="http://schemas.microsoft.com/office/powerpoint/2010/main" val="1156763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D3F4-346E-B3A6-F334-96C6A32D9140}"/>
              </a:ext>
            </a:extLst>
          </p:cNvPr>
          <p:cNvSpPr>
            <a:spLocks noGrp="1"/>
          </p:cNvSpPr>
          <p:nvPr>
            <p:ph type="title"/>
          </p:nvPr>
        </p:nvSpPr>
        <p:spPr/>
        <p:txBody>
          <a:bodyPr/>
          <a:lstStyle/>
          <a:p>
            <a:r>
              <a:rPr lang="en-US" dirty="0"/>
              <a:t>Boxplots for Change in Standardized NGAL at T1-T4 for AKI vs. no-AKI Patients</a:t>
            </a:r>
          </a:p>
        </p:txBody>
      </p:sp>
      <p:pic>
        <p:nvPicPr>
          <p:cNvPr id="5" name="Content Placeholder 4" descr="A graph of a bar chart&#10;&#10;AI-generated content may be incorrect.">
            <a:extLst>
              <a:ext uri="{FF2B5EF4-FFF2-40B4-BE49-F238E27FC236}">
                <a16:creationId xmlns:a16="http://schemas.microsoft.com/office/drawing/2014/main" id="{AA302B33-23C7-7CD2-6B9E-262FF7A2F97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63356" y="1943213"/>
            <a:ext cx="9065287" cy="4351338"/>
          </a:xfrm>
        </p:spPr>
      </p:pic>
    </p:spTree>
    <p:extLst>
      <p:ext uri="{BB962C8B-B14F-4D97-AF65-F5344CB8AC3E}">
        <p14:creationId xmlns:p14="http://schemas.microsoft.com/office/powerpoint/2010/main" val="13776048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06488-478F-7C11-1EB2-6395CA6A1A91}"/>
              </a:ext>
            </a:extLst>
          </p:cNvPr>
          <p:cNvSpPr>
            <a:spLocks noGrp="1"/>
          </p:cNvSpPr>
          <p:nvPr>
            <p:ph type="title"/>
          </p:nvPr>
        </p:nvSpPr>
        <p:spPr/>
        <p:txBody>
          <a:bodyPr/>
          <a:lstStyle/>
          <a:p>
            <a:r>
              <a:rPr lang="en-US" dirty="0"/>
              <a:t>Standardized NGAL from Baseline Over Time for AKI and no AKI populations</a:t>
            </a:r>
          </a:p>
        </p:txBody>
      </p:sp>
      <p:pic>
        <p:nvPicPr>
          <p:cNvPr id="5" name="Content Placeholder 4">
            <a:extLst>
              <a:ext uri="{FF2B5EF4-FFF2-40B4-BE49-F238E27FC236}">
                <a16:creationId xmlns:a16="http://schemas.microsoft.com/office/drawing/2014/main" id="{41EAC5F1-CEA7-990D-D387-76BD68C2AE8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17339" y="1827037"/>
            <a:ext cx="4665839" cy="4665839"/>
          </a:xfrm>
        </p:spPr>
      </p:pic>
      <p:pic>
        <p:nvPicPr>
          <p:cNvPr id="7" name="Picture 6">
            <a:extLst>
              <a:ext uri="{FF2B5EF4-FFF2-40B4-BE49-F238E27FC236}">
                <a16:creationId xmlns:a16="http://schemas.microsoft.com/office/drawing/2014/main" id="{0FB9E1B0-4B5A-6AD9-2547-A0C5C8B9A3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823" y="1827037"/>
            <a:ext cx="4665838" cy="4665838"/>
          </a:xfrm>
          <a:prstGeom prst="rect">
            <a:avLst/>
          </a:prstGeom>
        </p:spPr>
      </p:pic>
    </p:spTree>
    <p:extLst>
      <p:ext uri="{BB962C8B-B14F-4D97-AF65-F5344CB8AC3E}">
        <p14:creationId xmlns:p14="http://schemas.microsoft.com/office/powerpoint/2010/main" val="3393874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D5D28-BC79-E372-7429-BA9CC9886B0A}"/>
              </a:ext>
            </a:extLst>
          </p:cNvPr>
          <p:cNvSpPr>
            <a:spLocks noGrp="1"/>
          </p:cNvSpPr>
          <p:nvPr>
            <p:ph type="title"/>
          </p:nvPr>
        </p:nvSpPr>
        <p:spPr>
          <a:xfrm>
            <a:off x="838200" y="81593"/>
            <a:ext cx="10515600" cy="1325563"/>
          </a:xfrm>
        </p:spPr>
        <p:txBody>
          <a:bodyPr/>
          <a:lstStyle/>
          <a:p>
            <a:r>
              <a:rPr lang="en-US" dirty="0"/>
              <a:t>Standardized NGAL from Baseline Over Time for AKI and no AKI populations</a:t>
            </a:r>
          </a:p>
        </p:txBody>
      </p:sp>
      <p:pic>
        <p:nvPicPr>
          <p:cNvPr id="5" name="Content Placeholder 4">
            <a:extLst>
              <a:ext uri="{FF2B5EF4-FFF2-40B4-BE49-F238E27FC236}">
                <a16:creationId xmlns:a16="http://schemas.microsoft.com/office/drawing/2014/main" id="{8EB16B30-3637-1169-5D80-FCB398650AD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67501" y="1359297"/>
            <a:ext cx="5417110" cy="5417110"/>
          </a:xfrm>
        </p:spPr>
      </p:pic>
      <p:pic>
        <p:nvPicPr>
          <p:cNvPr id="7" name="Picture 6">
            <a:extLst>
              <a:ext uri="{FF2B5EF4-FFF2-40B4-BE49-F238E27FC236}">
                <a16:creationId xmlns:a16="http://schemas.microsoft.com/office/drawing/2014/main" id="{2E917B1D-916B-FCDC-31A9-46737819E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536" y="1359297"/>
            <a:ext cx="5417110" cy="5417110"/>
          </a:xfrm>
          <a:prstGeom prst="rect">
            <a:avLst/>
          </a:prstGeom>
        </p:spPr>
      </p:pic>
    </p:spTree>
    <p:extLst>
      <p:ext uri="{BB962C8B-B14F-4D97-AF65-F5344CB8AC3E}">
        <p14:creationId xmlns:p14="http://schemas.microsoft.com/office/powerpoint/2010/main" val="7513232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26BF2-0B08-A871-45F3-11B2C194FA76}"/>
              </a:ext>
            </a:extLst>
          </p:cNvPr>
          <p:cNvSpPr>
            <a:spLocks noGrp="1"/>
          </p:cNvSpPr>
          <p:nvPr>
            <p:ph type="title"/>
          </p:nvPr>
        </p:nvSpPr>
        <p:spPr/>
        <p:txBody>
          <a:bodyPr/>
          <a:lstStyle/>
          <a:p>
            <a:r>
              <a:rPr lang="en-US" dirty="0"/>
              <a:t>Standardized NGAL from Baseline Over Time for AKI and no AKI populations</a:t>
            </a:r>
          </a:p>
        </p:txBody>
      </p:sp>
      <p:pic>
        <p:nvPicPr>
          <p:cNvPr id="5" name="Content Placeholder 4">
            <a:extLst>
              <a:ext uri="{FF2B5EF4-FFF2-40B4-BE49-F238E27FC236}">
                <a16:creationId xmlns:a16="http://schemas.microsoft.com/office/drawing/2014/main" id="{F0929F5F-FEAA-CFF7-9916-DE0B0A9E5C0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627628" y="1569532"/>
            <a:ext cx="5044499" cy="5044499"/>
          </a:xfrm>
        </p:spPr>
      </p:pic>
      <p:pic>
        <p:nvPicPr>
          <p:cNvPr id="7" name="Picture 6">
            <a:extLst>
              <a:ext uri="{FF2B5EF4-FFF2-40B4-BE49-F238E27FC236}">
                <a16:creationId xmlns:a16="http://schemas.microsoft.com/office/drawing/2014/main" id="{E0FA5CC3-63F0-53E2-03DE-A81441D1B0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4851" y="1569532"/>
            <a:ext cx="5044499" cy="5044499"/>
          </a:xfrm>
          <a:prstGeom prst="rect">
            <a:avLst/>
          </a:prstGeom>
        </p:spPr>
      </p:pic>
    </p:spTree>
    <p:extLst>
      <p:ext uri="{BB962C8B-B14F-4D97-AF65-F5344CB8AC3E}">
        <p14:creationId xmlns:p14="http://schemas.microsoft.com/office/powerpoint/2010/main" val="6926005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20239-AA03-957E-0098-52A860E40A1B}"/>
              </a:ext>
            </a:extLst>
          </p:cNvPr>
          <p:cNvSpPr>
            <a:spLocks noGrp="1"/>
          </p:cNvSpPr>
          <p:nvPr>
            <p:ph type="title"/>
          </p:nvPr>
        </p:nvSpPr>
        <p:spPr/>
        <p:txBody>
          <a:bodyPr/>
          <a:lstStyle/>
          <a:p>
            <a:r>
              <a:rPr lang="en-US" dirty="0"/>
              <a:t>Standardized NGAL at T4 for AKI and no AKI populations</a:t>
            </a:r>
          </a:p>
        </p:txBody>
      </p:sp>
      <p:pic>
        <p:nvPicPr>
          <p:cNvPr id="5" name="Content Placeholder 4">
            <a:extLst>
              <a:ext uri="{FF2B5EF4-FFF2-40B4-BE49-F238E27FC236}">
                <a16:creationId xmlns:a16="http://schemas.microsoft.com/office/drawing/2014/main" id="{B466939C-DA2B-820B-5C89-5724C72A5E3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11186" y="1690688"/>
            <a:ext cx="4802187" cy="4802187"/>
          </a:xfrm>
        </p:spPr>
      </p:pic>
      <p:pic>
        <p:nvPicPr>
          <p:cNvPr id="7" name="Picture 6">
            <a:extLst>
              <a:ext uri="{FF2B5EF4-FFF2-40B4-BE49-F238E27FC236}">
                <a16:creationId xmlns:a16="http://schemas.microsoft.com/office/drawing/2014/main" id="{20DA9EA1-979B-B87C-0C22-135E81FF22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199" y="1632640"/>
            <a:ext cx="4860235" cy="4860235"/>
          </a:xfrm>
          <a:prstGeom prst="rect">
            <a:avLst/>
          </a:prstGeom>
        </p:spPr>
      </p:pic>
    </p:spTree>
    <p:extLst>
      <p:ext uri="{BB962C8B-B14F-4D97-AF65-F5344CB8AC3E}">
        <p14:creationId xmlns:p14="http://schemas.microsoft.com/office/powerpoint/2010/main" val="14606711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CA4B1-98FB-B87B-AF73-944E0F730342}"/>
              </a:ext>
            </a:extLst>
          </p:cNvPr>
          <p:cNvSpPr>
            <a:spLocks noGrp="1"/>
          </p:cNvSpPr>
          <p:nvPr>
            <p:ph type="title"/>
          </p:nvPr>
        </p:nvSpPr>
        <p:spPr/>
        <p:txBody>
          <a:bodyPr/>
          <a:lstStyle/>
          <a:p>
            <a:r>
              <a:rPr lang="en-US" dirty="0"/>
              <a:t>Dictionary of what time points mean</a:t>
            </a:r>
          </a:p>
        </p:txBody>
      </p:sp>
      <p:sp>
        <p:nvSpPr>
          <p:cNvPr id="3" name="Content Placeholder 2">
            <a:extLst>
              <a:ext uri="{FF2B5EF4-FFF2-40B4-BE49-F238E27FC236}">
                <a16:creationId xmlns:a16="http://schemas.microsoft.com/office/drawing/2014/main" id="{6C5EFF97-F1B1-5C85-9D85-F3AD5B7CD92C}"/>
              </a:ext>
            </a:extLst>
          </p:cNvPr>
          <p:cNvSpPr>
            <a:spLocks noGrp="1"/>
          </p:cNvSpPr>
          <p:nvPr>
            <p:ph idx="1"/>
          </p:nvPr>
        </p:nvSpPr>
        <p:spPr/>
        <p:txBody>
          <a:bodyPr/>
          <a:lstStyle/>
          <a:p>
            <a:r>
              <a:rPr lang="en-US" dirty="0"/>
              <a:t>T0: baseline</a:t>
            </a:r>
          </a:p>
          <a:p>
            <a:r>
              <a:rPr lang="en-US" dirty="0"/>
              <a:t>T1: cross-clamp release</a:t>
            </a:r>
          </a:p>
          <a:p>
            <a:r>
              <a:rPr lang="en-US" dirty="0"/>
              <a:t>T2: bypass end</a:t>
            </a:r>
          </a:p>
          <a:p>
            <a:r>
              <a:rPr lang="en-US" dirty="0"/>
              <a:t>T3: arrival at ICU</a:t>
            </a:r>
          </a:p>
          <a:p>
            <a:r>
              <a:rPr lang="en-US" dirty="0"/>
              <a:t>T4: 24 hours after surgery</a:t>
            </a:r>
          </a:p>
        </p:txBody>
      </p:sp>
    </p:spTree>
    <p:extLst>
      <p:ext uri="{BB962C8B-B14F-4D97-AF65-F5344CB8AC3E}">
        <p14:creationId xmlns:p14="http://schemas.microsoft.com/office/powerpoint/2010/main" val="2637424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B655D-067C-2BCF-80E6-E5F4027D761C}"/>
              </a:ext>
            </a:extLst>
          </p:cNvPr>
          <p:cNvSpPr>
            <a:spLocks noGrp="1"/>
          </p:cNvSpPr>
          <p:nvPr>
            <p:ph type="title"/>
          </p:nvPr>
        </p:nvSpPr>
        <p:spPr/>
        <p:txBody>
          <a:bodyPr/>
          <a:lstStyle/>
          <a:p>
            <a:r>
              <a:rPr lang="en-US" dirty="0"/>
              <a:t>T-tests of biomarkers between AKI and no AKI groups at T3</a:t>
            </a:r>
          </a:p>
        </p:txBody>
      </p:sp>
      <p:sp>
        <p:nvSpPr>
          <p:cNvPr id="3" name="Content Placeholder 2">
            <a:extLst>
              <a:ext uri="{FF2B5EF4-FFF2-40B4-BE49-F238E27FC236}">
                <a16:creationId xmlns:a16="http://schemas.microsoft.com/office/drawing/2014/main" id="{D095FA0B-AF55-6333-FC5D-BA17038FD980}"/>
              </a:ext>
            </a:extLst>
          </p:cNvPr>
          <p:cNvSpPr>
            <a:spLocks noGrp="1"/>
          </p:cNvSpPr>
          <p:nvPr>
            <p:ph idx="1"/>
          </p:nvPr>
        </p:nvSpPr>
        <p:spPr>
          <a:xfrm>
            <a:off x="838200" y="1825624"/>
            <a:ext cx="10515600" cy="4771945"/>
          </a:xfrm>
        </p:spPr>
        <p:txBody>
          <a:bodyPr>
            <a:normAutofit fontScale="77500" lnSpcReduction="20000"/>
          </a:bodyPr>
          <a:lstStyle/>
          <a:p>
            <a:pPr fontAlgn="base"/>
            <a:r>
              <a:rPr lang="en-US" dirty="0"/>
              <a:t>data:  aki_yes_data$delta_KIM1_stand_T3 and aki_no_data$delta_KIM1_stand_T3</a:t>
            </a:r>
          </a:p>
          <a:p>
            <a:pPr fontAlgn="base"/>
            <a:r>
              <a:rPr lang="en-US" dirty="0"/>
              <a:t>t = -0.023933, </a:t>
            </a:r>
            <a:r>
              <a:rPr lang="en-US" dirty="0" err="1"/>
              <a:t>df</a:t>
            </a:r>
            <a:r>
              <a:rPr lang="en-US" dirty="0"/>
              <a:t> = 27.143, p-value = 0.5095</a:t>
            </a:r>
          </a:p>
          <a:p>
            <a:pPr fontAlgn="base"/>
            <a:endParaRPr lang="en-US" dirty="0"/>
          </a:p>
          <a:p>
            <a:pPr fontAlgn="base"/>
            <a:r>
              <a:rPr lang="en-US" dirty="0"/>
              <a:t>data:  aki_yes_data$delta_NGAL_stand_T3 and aki_no_data$delta_NGAL_stand_T3</a:t>
            </a:r>
          </a:p>
          <a:p>
            <a:pPr fontAlgn="base"/>
            <a:r>
              <a:rPr lang="en-US" dirty="0"/>
              <a:t>t = 2.1393, </a:t>
            </a:r>
            <a:r>
              <a:rPr lang="en-US" dirty="0" err="1"/>
              <a:t>df</a:t>
            </a:r>
            <a:r>
              <a:rPr lang="en-US" dirty="0"/>
              <a:t> = 24.222, p-value = 0.02134</a:t>
            </a:r>
          </a:p>
          <a:p>
            <a:pPr fontAlgn="base"/>
            <a:endParaRPr lang="en-US" dirty="0"/>
          </a:p>
          <a:p>
            <a:pPr fontAlgn="base"/>
            <a:r>
              <a:rPr lang="en-US" dirty="0"/>
              <a:t>data:  aki_yes_data$delta_MCP1_stand_T3 and aki_no_data$delta_MCP1_stand_T3</a:t>
            </a:r>
          </a:p>
          <a:p>
            <a:pPr fontAlgn="base"/>
            <a:r>
              <a:rPr lang="en-US" dirty="0"/>
              <a:t>t = 1.8316, </a:t>
            </a:r>
            <a:r>
              <a:rPr lang="en-US" dirty="0" err="1"/>
              <a:t>df</a:t>
            </a:r>
            <a:r>
              <a:rPr lang="en-US" dirty="0"/>
              <a:t> = 32.217, p-value = 0.03813</a:t>
            </a:r>
          </a:p>
          <a:p>
            <a:pPr fontAlgn="base"/>
            <a:endParaRPr lang="en-US" dirty="0"/>
          </a:p>
          <a:p>
            <a:pPr fontAlgn="base"/>
            <a:r>
              <a:rPr lang="en-US" dirty="0"/>
              <a:t>data:  aki_yes_data$delta_YKL40_stand_T3 and aki_no_data$delta_YKL40_stand_T3</a:t>
            </a:r>
          </a:p>
          <a:p>
            <a:pPr fontAlgn="base"/>
            <a:r>
              <a:rPr lang="en-US" dirty="0"/>
              <a:t>t = 2.0024, </a:t>
            </a:r>
            <a:r>
              <a:rPr lang="en-US" dirty="0" err="1"/>
              <a:t>df</a:t>
            </a:r>
            <a:r>
              <a:rPr lang="en-US" dirty="0"/>
              <a:t> = 22.619, p-value = 0.02869</a:t>
            </a:r>
          </a:p>
          <a:p>
            <a:endParaRPr lang="en-US" dirty="0"/>
          </a:p>
        </p:txBody>
      </p:sp>
    </p:spTree>
    <p:extLst>
      <p:ext uri="{BB962C8B-B14F-4D97-AF65-F5344CB8AC3E}">
        <p14:creationId xmlns:p14="http://schemas.microsoft.com/office/powerpoint/2010/main" val="4285241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B5EF6-AD4E-DB4C-28E5-17C07B557861}"/>
              </a:ext>
            </a:extLst>
          </p:cNvPr>
          <p:cNvSpPr>
            <a:spLocks noGrp="1"/>
          </p:cNvSpPr>
          <p:nvPr>
            <p:ph type="title"/>
          </p:nvPr>
        </p:nvSpPr>
        <p:spPr/>
        <p:txBody>
          <a:bodyPr/>
          <a:lstStyle/>
          <a:p>
            <a:r>
              <a:rPr lang="en-US" dirty="0"/>
              <a:t>Mediation Analysis when using standardized NGAL at T3 as the mediating variable</a:t>
            </a:r>
          </a:p>
        </p:txBody>
      </p:sp>
      <p:sp>
        <p:nvSpPr>
          <p:cNvPr id="3" name="Content Placeholder 2">
            <a:extLst>
              <a:ext uri="{FF2B5EF4-FFF2-40B4-BE49-F238E27FC236}">
                <a16:creationId xmlns:a16="http://schemas.microsoft.com/office/drawing/2014/main" id="{656AB8C0-D585-C670-017C-DFC0E35ADA38}"/>
              </a:ext>
            </a:extLst>
          </p:cNvPr>
          <p:cNvSpPr>
            <a:spLocks noGrp="1"/>
          </p:cNvSpPr>
          <p:nvPr>
            <p:ph idx="1"/>
          </p:nvPr>
        </p:nvSpPr>
        <p:spPr/>
        <p:txBody>
          <a:bodyPr/>
          <a:lstStyle/>
          <a:p>
            <a:r>
              <a:rPr lang="en-US" dirty="0"/>
              <a:t>Analysis of effect of hypoxia on AKI when NGAL is the mediating variable</a:t>
            </a:r>
          </a:p>
          <a:p>
            <a:r>
              <a:rPr lang="en-US" dirty="0"/>
              <a:t>Total effect: 0.17 (0.00, 0.36)</a:t>
            </a:r>
          </a:p>
          <a:p>
            <a:r>
              <a:rPr lang="en-US" dirty="0"/>
              <a:t>Indirect effect: 0.00 (-0.19, 0.20)</a:t>
            </a:r>
          </a:p>
          <a:p>
            <a:r>
              <a:rPr lang="en-US" dirty="0"/>
              <a:t>Direct effect: 0.16 (0.02, 0.32)</a:t>
            </a:r>
          </a:p>
          <a:p>
            <a:endParaRPr lang="en-US" dirty="0"/>
          </a:p>
          <a:p>
            <a:endParaRPr lang="en-US" dirty="0"/>
          </a:p>
        </p:txBody>
      </p:sp>
    </p:spTree>
    <p:extLst>
      <p:ext uri="{BB962C8B-B14F-4D97-AF65-F5344CB8AC3E}">
        <p14:creationId xmlns:p14="http://schemas.microsoft.com/office/powerpoint/2010/main" val="33856915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72A01-75CA-FE2B-A340-6290B6E21D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92177-A3DA-2419-A766-B09D989F512D}"/>
              </a:ext>
            </a:extLst>
          </p:cNvPr>
          <p:cNvSpPr>
            <a:spLocks noGrp="1"/>
          </p:cNvSpPr>
          <p:nvPr>
            <p:ph type="title"/>
          </p:nvPr>
        </p:nvSpPr>
        <p:spPr/>
        <p:txBody>
          <a:bodyPr/>
          <a:lstStyle/>
          <a:p>
            <a:r>
              <a:rPr lang="en-US" dirty="0"/>
              <a:t>Mediation Analysis when using standardized MCP-1 at T3 as the mediating variable</a:t>
            </a:r>
          </a:p>
        </p:txBody>
      </p:sp>
      <p:sp>
        <p:nvSpPr>
          <p:cNvPr id="3" name="Content Placeholder 2">
            <a:extLst>
              <a:ext uri="{FF2B5EF4-FFF2-40B4-BE49-F238E27FC236}">
                <a16:creationId xmlns:a16="http://schemas.microsoft.com/office/drawing/2014/main" id="{B5556003-9D6E-DCAA-CA4C-358C9192532B}"/>
              </a:ext>
            </a:extLst>
          </p:cNvPr>
          <p:cNvSpPr>
            <a:spLocks noGrp="1"/>
          </p:cNvSpPr>
          <p:nvPr>
            <p:ph idx="1"/>
          </p:nvPr>
        </p:nvSpPr>
        <p:spPr/>
        <p:txBody>
          <a:bodyPr/>
          <a:lstStyle/>
          <a:p>
            <a:r>
              <a:rPr lang="en-US" dirty="0"/>
              <a:t>Analysis of effect of hypoxia on AKI when NGAL is the mediating variable</a:t>
            </a:r>
          </a:p>
          <a:p>
            <a:r>
              <a:rPr lang="en-US" dirty="0"/>
              <a:t>Total effect: 0.17 (0.02, 0.34)</a:t>
            </a:r>
          </a:p>
          <a:p>
            <a:r>
              <a:rPr lang="en-US" dirty="0"/>
              <a:t>Indirect effect: 0.03 (-0.16, 0.23)</a:t>
            </a:r>
          </a:p>
          <a:p>
            <a:r>
              <a:rPr lang="en-US" dirty="0"/>
              <a:t>Direct effect: 0.14 (-0.01, 0.30)</a:t>
            </a:r>
          </a:p>
          <a:p>
            <a:endParaRPr lang="en-US" dirty="0"/>
          </a:p>
          <a:p>
            <a:endParaRPr lang="en-US" dirty="0"/>
          </a:p>
        </p:txBody>
      </p:sp>
    </p:spTree>
    <p:extLst>
      <p:ext uri="{BB962C8B-B14F-4D97-AF65-F5344CB8AC3E}">
        <p14:creationId xmlns:p14="http://schemas.microsoft.com/office/powerpoint/2010/main" val="3671961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4F363-5911-47D7-DFC9-D5A6883A62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24A64-4346-D4A9-963B-630D43062407}"/>
              </a:ext>
            </a:extLst>
          </p:cNvPr>
          <p:cNvSpPr>
            <a:spLocks noGrp="1"/>
          </p:cNvSpPr>
          <p:nvPr>
            <p:ph type="title"/>
          </p:nvPr>
        </p:nvSpPr>
        <p:spPr/>
        <p:txBody>
          <a:bodyPr/>
          <a:lstStyle/>
          <a:p>
            <a:r>
              <a:rPr lang="en-US" dirty="0"/>
              <a:t>Mediation Analysis when using standardized YKL-40 at T3 as the mediating variable</a:t>
            </a:r>
          </a:p>
        </p:txBody>
      </p:sp>
      <p:sp>
        <p:nvSpPr>
          <p:cNvPr id="3" name="Content Placeholder 2">
            <a:extLst>
              <a:ext uri="{FF2B5EF4-FFF2-40B4-BE49-F238E27FC236}">
                <a16:creationId xmlns:a16="http://schemas.microsoft.com/office/drawing/2014/main" id="{C509D6E1-CE4D-72C5-08ED-D08EE0DF4361}"/>
              </a:ext>
            </a:extLst>
          </p:cNvPr>
          <p:cNvSpPr>
            <a:spLocks noGrp="1"/>
          </p:cNvSpPr>
          <p:nvPr>
            <p:ph idx="1"/>
          </p:nvPr>
        </p:nvSpPr>
        <p:spPr/>
        <p:txBody>
          <a:bodyPr/>
          <a:lstStyle/>
          <a:p>
            <a:r>
              <a:rPr lang="en-US" dirty="0"/>
              <a:t>Analysis of effect of hypoxia on AKI when NGAL is the mediating variable</a:t>
            </a:r>
          </a:p>
          <a:p>
            <a:r>
              <a:rPr lang="en-US" dirty="0"/>
              <a:t>Total effect: 0.16 (0.00, 0.32)</a:t>
            </a:r>
          </a:p>
          <a:p>
            <a:r>
              <a:rPr lang="en-US" dirty="0"/>
              <a:t>Indirect effect: -0.02 (-0.19, 0.18)</a:t>
            </a:r>
          </a:p>
          <a:p>
            <a:r>
              <a:rPr lang="en-US" dirty="0"/>
              <a:t>Direct effect: 0.18 (0.03, 0.32)</a:t>
            </a:r>
          </a:p>
          <a:p>
            <a:endParaRPr lang="en-US" dirty="0"/>
          </a:p>
          <a:p>
            <a:endParaRPr lang="en-US" dirty="0"/>
          </a:p>
        </p:txBody>
      </p:sp>
    </p:spTree>
    <p:extLst>
      <p:ext uri="{BB962C8B-B14F-4D97-AF65-F5344CB8AC3E}">
        <p14:creationId xmlns:p14="http://schemas.microsoft.com/office/powerpoint/2010/main" val="19159766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2378D-D535-BF74-8423-9FC7090B2C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259C6-6E79-930F-5DC3-3F5B18F8A2E9}"/>
              </a:ext>
            </a:extLst>
          </p:cNvPr>
          <p:cNvSpPr>
            <a:spLocks noGrp="1"/>
          </p:cNvSpPr>
          <p:nvPr>
            <p:ph type="title"/>
          </p:nvPr>
        </p:nvSpPr>
        <p:spPr/>
        <p:txBody>
          <a:bodyPr/>
          <a:lstStyle/>
          <a:p>
            <a:r>
              <a:rPr lang="en-US" dirty="0"/>
              <a:t>Mediation Analysis when using standardized NGAL at T4 as the mediating variable</a:t>
            </a:r>
          </a:p>
        </p:txBody>
      </p:sp>
      <p:sp>
        <p:nvSpPr>
          <p:cNvPr id="3" name="Content Placeholder 2">
            <a:extLst>
              <a:ext uri="{FF2B5EF4-FFF2-40B4-BE49-F238E27FC236}">
                <a16:creationId xmlns:a16="http://schemas.microsoft.com/office/drawing/2014/main" id="{683676C5-DBC8-A151-C977-C2C888850D9A}"/>
              </a:ext>
            </a:extLst>
          </p:cNvPr>
          <p:cNvSpPr>
            <a:spLocks noGrp="1"/>
          </p:cNvSpPr>
          <p:nvPr>
            <p:ph idx="1"/>
          </p:nvPr>
        </p:nvSpPr>
        <p:spPr/>
        <p:txBody>
          <a:bodyPr/>
          <a:lstStyle/>
          <a:p>
            <a:r>
              <a:rPr lang="en-US" dirty="0"/>
              <a:t>Analysis of effect of hypoxia on AKI when NGAL is the mediating variable</a:t>
            </a:r>
          </a:p>
          <a:p>
            <a:r>
              <a:rPr lang="en-US" dirty="0"/>
              <a:t>Total effect: 0.16 (0.00, 0.33)</a:t>
            </a:r>
          </a:p>
          <a:p>
            <a:r>
              <a:rPr lang="en-US" dirty="0"/>
              <a:t>Indirect effect: -0.07 (-0.31, 0.15)</a:t>
            </a:r>
          </a:p>
          <a:p>
            <a:r>
              <a:rPr lang="en-US" dirty="0"/>
              <a:t>Direct effect: 0.23 (0.06, 0.43)</a:t>
            </a:r>
          </a:p>
          <a:p>
            <a:endParaRPr lang="en-US" dirty="0"/>
          </a:p>
          <a:p>
            <a:endParaRPr lang="en-US" dirty="0"/>
          </a:p>
        </p:txBody>
      </p:sp>
    </p:spTree>
    <p:extLst>
      <p:ext uri="{BB962C8B-B14F-4D97-AF65-F5344CB8AC3E}">
        <p14:creationId xmlns:p14="http://schemas.microsoft.com/office/powerpoint/2010/main" val="36995088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FEA13C-86DF-146C-6FBF-7B0D07F77E35}"/>
              </a:ext>
            </a:extLst>
          </p:cNvPr>
          <p:cNvSpPr>
            <a:spLocks noGrp="1"/>
          </p:cNvSpPr>
          <p:nvPr>
            <p:ph type="title"/>
          </p:nvPr>
        </p:nvSpPr>
        <p:spPr/>
        <p:txBody>
          <a:bodyPr/>
          <a:lstStyle/>
          <a:p>
            <a:r>
              <a:rPr lang="en-US" dirty="0"/>
              <a:t>Reweighted BIC Scores for model selection</a:t>
            </a:r>
          </a:p>
        </p:txBody>
      </p:sp>
      <p:sp>
        <p:nvSpPr>
          <p:cNvPr id="3" name="Content Placeholder 2">
            <a:extLst>
              <a:ext uri="{FF2B5EF4-FFF2-40B4-BE49-F238E27FC236}">
                <a16:creationId xmlns:a16="http://schemas.microsoft.com/office/drawing/2014/main" id="{11AC601B-01A2-8DB6-BAA9-16D90129C549}"/>
              </a:ext>
            </a:extLst>
          </p:cNvPr>
          <p:cNvSpPr>
            <a:spLocks noGrp="1"/>
          </p:cNvSpPr>
          <p:nvPr>
            <p:ph idx="1"/>
          </p:nvPr>
        </p:nvSpPr>
        <p:spPr/>
        <p:txBody>
          <a:bodyPr>
            <a:normAutofit fontScale="25000" lnSpcReduction="20000"/>
          </a:bodyPr>
          <a:lstStyle/>
          <a:p>
            <a:pPr fontAlgn="base"/>
            <a:r>
              <a:rPr lang="en-US" dirty="0"/>
              <a:t>[1] "baseline 932.450231041678"</a:t>
            </a:r>
          </a:p>
          <a:p>
            <a:pPr fontAlgn="base"/>
            <a:r>
              <a:rPr lang="en-US" dirty="0"/>
              <a:t>[1] "BIC add </a:t>
            </a:r>
            <a:r>
              <a:rPr lang="en-US" dirty="0" err="1"/>
              <a:t>XClampDuration</a:t>
            </a:r>
            <a:r>
              <a:rPr lang="en-US" dirty="0"/>
              <a:t> 866.288872844058"</a:t>
            </a:r>
          </a:p>
          <a:p>
            <a:pPr fontAlgn="base"/>
            <a:r>
              <a:rPr lang="en-US" dirty="0"/>
              <a:t>[1] "BIC add NadirDO2 862.728010358645"</a:t>
            </a:r>
          </a:p>
          <a:p>
            <a:pPr fontAlgn="base"/>
            <a:r>
              <a:rPr lang="en-US" dirty="0"/>
              <a:t>[1] "BIC add AreaBelow270 869.328983322171"</a:t>
            </a:r>
          </a:p>
          <a:p>
            <a:pPr fontAlgn="base"/>
            <a:r>
              <a:rPr lang="en-US" dirty="0"/>
              <a:t>[1] "BIC add AreaBelow300 864.896283155138"</a:t>
            </a:r>
          </a:p>
          <a:p>
            <a:pPr fontAlgn="base"/>
            <a:r>
              <a:rPr lang="en-US" dirty="0"/>
              <a:t>[1] "BIC add AreaBelow290 866.879828429003"</a:t>
            </a:r>
          </a:p>
          <a:p>
            <a:pPr fontAlgn="base"/>
            <a:r>
              <a:rPr lang="en-US" dirty="0"/>
              <a:t>[1] "BIC add AreaBelow250 867.783166457965"</a:t>
            </a:r>
          </a:p>
          <a:p>
            <a:pPr fontAlgn="base"/>
            <a:r>
              <a:rPr lang="en-US" dirty="0"/>
              <a:t>[1] "BIC add AreaBelow230 867.301535490328"</a:t>
            </a:r>
          </a:p>
          <a:p>
            <a:pPr fontAlgn="base"/>
            <a:r>
              <a:rPr lang="en-US" dirty="0"/>
              <a:t>[1] "BIC add AreaBelow210 867.325222016953"</a:t>
            </a:r>
          </a:p>
          <a:p>
            <a:pPr fontAlgn="base"/>
            <a:r>
              <a:rPr lang="en-US" dirty="0"/>
              <a:t>[1] "BIC add AreaBelow190 867.005919520541"</a:t>
            </a:r>
          </a:p>
          <a:p>
            <a:pPr fontAlgn="base"/>
            <a:r>
              <a:rPr lang="en-US" dirty="0"/>
              <a:t>[1] "BIC add AreaBelow170 866.461712627631"</a:t>
            </a:r>
          </a:p>
          <a:p>
            <a:pPr fontAlgn="base"/>
            <a:r>
              <a:rPr lang="en-US" dirty="0"/>
              <a:t>[1] "BIC add TimesBelow50 864.414237795328"</a:t>
            </a:r>
          </a:p>
          <a:p>
            <a:pPr fontAlgn="base"/>
            <a:r>
              <a:rPr lang="en-US" dirty="0"/>
              <a:t>[1] "BIC add TimesBelow270 868.578796876288"</a:t>
            </a:r>
          </a:p>
          <a:p>
            <a:pPr fontAlgn="base"/>
            <a:r>
              <a:rPr lang="en-US" dirty="0"/>
              <a:t>[1] "BIC add TimesBelow220 865.708189112134"</a:t>
            </a:r>
          </a:p>
          <a:p>
            <a:pPr fontAlgn="base"/>
            <a:r>
              <a:rPr lang="en-US" dirty="0"/>
              <a:t>[1] "BIC add TimesBelow170 869.349063777246"</a:t>
            </a:r>
          </a:p>
          <a:p>
            <a:pPr fontAlgn="base"/>
            <a:r>
              <a:rPr lang="en-US" dirty="0"/>
              <a:t>[1] "BIC add AreaAbove400 867.688547241131"</a:t>
            </a:r>
          </a:p>
          <a:p>
            <a:pPr fontAlgn="base"/>
            <a:r>
              <a:rPr lang="en-US" dirty="0"/>
              <a:t>[1] "BIC add AreaAbove450 867.427006729131"</a:t>
            </a:r>
          </a:p>
          <a:p>
            <a:pPr fontAlgn="base"/>
            <a:r>
              <a:rPr lang="en-US" dirty="0"/>
              <a:t>[1] "BIC add AreaAbove500 866.198254452963"</a:t>
            </a:r>
          </a:p>
          <a:p>
            <a:pPr fontAlgn="base"/>
            <a:br>
              <a:rPr lang="en-US" dirty="0"/>
            </a:br>
            <a:endParaRPr lang="en-US" dirty="0"/>
          </a:p>
          <a:p>
            <a:pPr fontAlgn="base"/>
            <a:r>
              <a:rPr lang="en-US" dirty="0"/>
              <a:t>Final result:</a:t>
            </a:r>
          </a:p>
          <a:p>
            <a:pPr fontAlgn="base"/>
            <a:r>
              <a:rPr lang="en-US" dirty="0"/>
              <a:t>[1] "</a:t>
            </a:r>
            <a:r>
              <a:rPr lang="en-US" dirty="0" err="1"/>
              <a:t>XClampDuration</a:t>
            </a:r>
            <a:r>
              <a:rPr lang="en-US" dirty="0"/>
              <a:t>" "NadirDO2"             </a:t>
            </a:r>
          </a:p>
          <a:p>
            <a:pPr fontAlgn="base"/>
            <a:r>
              <a:rPr lang="en-US" dirty="0"/>
              <a:t>862.728 </a:t>
            </a:r>
          </a:p>
          <a:p>
            <a:endParaRPr lang="en-US" dirty="0"/>
          </a:p>
        </p:txBody>
      </p:sp>
    </p:spTree>
    <p:extLst>
      <p:ext uri="{BB962C8B-B14F-4D97-AF65-F5344CB8AC3E}">
        <p14:creationId xmlns:p14="http://schemas.microsoft.com/office/powerpoint/2010/main" val="28509841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F1C39-F41D-FEBF-182B-17AFC065481B}"/>
              </a:ext>
            </a:extLst>
          </p:cNvPr>
          <p:cNvSpPr>
            <a:spLocks noGrp="1"/>
          </p:cNvSpPr>
          <p:nvPr>
            <p:ph type="title"/>
          </p:nvPr>
        </p:nvSpPr>
        <p:spPr/>
        <p:txBody>
          <a:bodyPr/>
          <a:lstStyle/>
          <a:p>
            <a:r>
              <a:rPr lang="en-US" dirty="0"/>
              <a:t>Reweighted regression (MSM) of nadir DO2 and cross-clamp duration on AKI</a:t>
            </a:r>
          </a:p>
        </p:txBody>
      </p:sp>
      <p:sp>
        <p:nvSpPr>
          <p:cNvPr id="3" name="Content Placeholder 2">
            <a:extLst>
              <a:ext uri="{FF2B5EF4-FFF2-40B4-BE49-F238E27FC236}">
                <a16:creationId xmlns:a16="http://schemas.microsoft.com/office/drawing/2014/main" id="{6B03EDAC-3F98-5413-C3CE-389B84C42462}"/>
              </a:ext>
            </a:extLst>
          </p:cNvPr>
          <p:cNvSpPr>
            <a:spLocks noGrp="1"/>
          </p:cNvSpPr>
          <p:nvPr>
            <p:ph idx="1"/>
          </p:nvPr>
        </p:nvSpPr>
        <p:spPr/>
        <p:txBody>
          <a:bodyPr>
            <a:normAutofit fontScale="77500" lnSpcReduction="20000"/>
          </a:bodyPr>
          <a:lstStyle/>
          <a:p>
            <a:r>
              <a:rPr lang="en-US" dirty="0"/>
              <a:t>[1] "estimated reweighted regression coefficients"</a:t>
            </a:r>
          </a:p>
          <a:p>
            <a:endParaRPr lang="en-US" dirty="0"/>
          </a:p>
          <a:p>
            <a:r>
              <a:rPr lang="en-US" dirty="0"/>
              <a:t>Call:</a:t>
            </a:r>
          </a:p>
          <a:p>
            <a:r>
              <a:rPr lang="en-US" dirty="0" err="1"/>
              <a:t>glm</a:t>
            </a:r>
            <a:r>
              <a:rPr lang="en-US" dirty="0"/>
              <a:t>(formula = </a:t>
            </a:r>
            <a:r>
              <a:rPr lang="en-US" dirty="0" err="1"/>
              <a:t>formula_reg</a:t>
            </a:r>
            <a:r>
              <a:rPr lang="en-US" dirty="0"/>
              <a:t>, family = binomial, data = dataset,</a:t>
            </a:r>
          </a:p>
          <a:p>
            <a:r>
              <a:rPr lang="en-US" dirty="0"/>
              <a:t>    weights = </a:t>
            </a:r>
            <a:r>
              <a:rPr lang="en-US" dirty="0" err="1"/>
              <a:t>weights_stand</a:t>
            </a:r>
            <a:r>
              <a:rPr lang="en-US" dirty="0"/>
              <a:t>)</a:t>
            </a:r>
          </a:p>
          <a:p>
            <a:endParaRPr lang="en-US" dirty="0"/>
          </a:p>
          <a:p>
            <a:r>
              <a:rPr lang="en-US" dirty="0"/>
              <a:t>Coefficients:</a:t>
            </a:r>
          </a:p>
          <a:p>
            <a:r>
              <a:rPr lang="en-US" dirty="0"/>
              <a:t>                         Estimate Std. Error z value </a:t>
            </a:r>
            <a:r>
              <a:rPr lang="en-US" dirty="0" err="1"/>
              <a:t>Pr</a:t>
            </a:r>
            <a:r>
              <a:rPr lang="en-US" dirty="0"/>
              <a:t>(&gt;|z|)</a:t>
            </a:r>
          </a:p>
          <a:p>
            <a:r>
              <a:rPr lang="en-US" dirty="0"/>
              <a:t>(Intercept)              -1.90835    0.50588  -3.772 0.000162 ***</a:t>
            </a:r>
          </a:p>
          <a:p>
            <a:r>
              <a:rPr lang="en-US" dirty="0"/>
              <a:t>nadirDO2                  0.11656    0.20147   0.579 0.562886</a:t>
            </a:r>
          </a:p>
          <a:p>
            <a:r>
              <a:rPr lang="en-US" dirty="0" err="1"/>
              <a:t>xclamp_duration</a:t>
            </a:r>
            <a:r>
              <a:rPr lang="en-US" dirty="0"/>
              <a:t>           0.31343    0.18783   1.669 0.095180 .</a:t>
            </a:r>
          </a:p>
          <a:p>
            <a:r>
              <a:rPr lang="en-US" dirty="0"/>
              <a:t>nadirDO2:xclamp_duration -0.04019    0.08025  -0.501 0.616497</a:t>
            </a:r>
          </a:p>
        </p:txBody>
      </p:sp>
    </p:spTree>
    <p:extLst>
      <p:ext uri="{BB962C8B-B14F-4D97-AF65-F5344CB8AC3E}">
        <p14:creationId xmlns:p14="http://schemas.microsoft.com/office/powerpoint/2010/main" val="3974595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9CC68-DDF8-4ECA-359D-9591712FF836}"/>
              </a:ext>
            </a:extLst>
          </p:cNvPr>
          <p:cNvSpPr>
            <a:spLocks noGrp="1"/>
          </p:cNvSpPr>
          <p:nvPr>
            <p:ph type="title"/>
          </p:nvPr>
        </p:nvSpPr>
        <p:spPr/>
        <p:txBody>
          <a:bodyPr/>
          <a:lstStyle/>
          <a:p>
            <a:r>
              <a:rPr lang="en-US" dirty="0"/>
              <a:t>Reweighted regression (MSM) of nadir DO2 and cross-clamp duration on AKI (cont.)</a:t>
            </a:r>
          </a:p>
        </p:txBody>
      </p:sp>
      <p:sp>
        <p:nvSpPr>
          <p:cNvPr id="3" name="Content Placeholder 2">
            <a:extLst>
              <a:ext uri="{FF2B5EF4-FFF2-40B4-BE49-F238E27FC236}">
                <a16:creationId xmlns:a16="http://schemas.microsoft.com/office/drawing/2014/main" id="{22F28E35-3BC0-0F1C-0401-D9F48DEF3BD3}"/>
              </a:ext>
            </a:extLst>
          </p:cNvPr>
          <p:cNvSpPr>
            <a:spLocks noGrp="1"/>
          </p:cNvSpPr>
          <p:nvPr>
            <p:ph idx="1"/>
          </p:nvPr>
        </p:nvSpPr>
        <p:spPr/>
        <p:txBody>
          <a:bodyPr>
            <a:normAutofit fontScale="92500" lnSpcReduction="20000"/>
          </a:bodyPr>
          <a:lstStyle/>
          <a:p>
            <a:pPr fontAlgn="base"/>
            <a:r>
              <a:rPr lang="en-US" dirty="0"/>
              <a:t>Because we fit a logistic regression, the way to interpret these coefficients is through changes in the odds of developing AKI. Each increase in nadir DO2 of 102 multiplies the odds of developing AKI by exp(0.11)=1.12. Meanwhile, each increase in X-clamp duration of 35 minutes multiplies the odds of developing AKI by exp(0.32)=1.38. When both nadir DO2 and X-clamp duration increase by 102 and 35, the odds of developing AKI is multiplied by 0.96.</a:t>
            </a:r>
          </a:p>
          <a:p>
            <a:pPr fontAlgn="base"/>
            <a:r>
              <a:rPr lang="en-US" dirty="0"/>
              <a:t> </a:t>
            </a:r>
          </a:p>
          <a:p>
            <a:pPr fontAlgn="base"/>
            <a:r>
              <a:rPr lang="en-US" dirty="0"/>
              <a:t>A longer X-clamp duration increases the odds of developing AKI, but the way that nadir DO2 affects AKI is more complicated. A higher nadir DO2 can increase or reduce the risk of AKI depending on the length of X-clamp. When X-clamp duration is short, a higher nadir DO2 increases the odds of developing AKI, but, as X-clamp duration increases, a higher nadir DO2 decreases the odds of developing AKI.</a:t>
            </a:r>
          </a:p>
          <a:p>
            <a:endParaRPr lang="en-US" dirty="0"/>
          </a:p>
        </p:txBody>
      </p:sp>
    </p:spTree>
    <p:extLst>
      <p:ext uri="{BB962C8B-B14F-4D97-AF65-F5344CB8AC3E}">
        <p14:creationId xmlns:p14="http://schemas.microsoft.com/office/powerpoint/2010/main" val="28983251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6C97D-6907-DEFA-7B79-88EEBFFC5FFB}"/>
              </a:ext>
            </a:extLst>
          </p:cNvPr>
          <p:cNvSpPr>
            <a:spLocks noGrp="1"/>
          </p:cNvSpPr>
          <p:nvPr>
            <p:ph type="title"/>
          </p:nvPr>
        </p:nvSpPr>
        <p:spPr/>
        <p:txBody>
          <a:bodyPr/>
          <a:lstStyle/>
          <a:p>
            <a:r>
              <a:rPr lang="en-US" dirty="0"/>
              <a:t>More Straightforward Interpretation of coefficients of MSM</a:t>
            </a:r>
          </a:p>
        </p:txBody>
      </p:sp>
      <p:sp>
        <p:nvSpPr>
          <p:cNvPr id="3" name="Content Placeholder 2">
            <a:extLst>
              <a:ext uri="{FF2B5EF4-FFF2-40B4-BE49-F238E27FC236}">
                <a16:creationId xmlns:a16="http://schemas.microsoft.com/office/drawing/2014/main" id="{AD0D2170-94AF-8AF3-EF6E-9BC4421BFD3F}"/>
              </a:ext>
            </a:extLst>
          </p:cNvPr>
          <p:cNvSpPr>
            <a:spLocks noGrp="1"/>
          </p:cNvSpPr>
          <p:nvPr>
            <p:ph idx="1"/>
          </p:nvPr>
        </p:nvSpPr>
        <p:spPr/>
        <p:txBody>
          <a:bodyPr/>
          <a:lstStyle/>
          <a:p>
            <a:r>
              <a:rPr lang="en-US" dirty="0"/>
              <a:t>At cross-clamp duration of 120 (3.43) minutes each increase in 100 (0.98) scaled of nadir DO2 corresponds to exp(0.98*0.12 – 0.98*3.43*0.04) = 0.98 decrease in odds of AKI.</a:t>
            </a:r>
          </a:p>
          <a:p>
            <a:r>
              <a:rPr lang="en-US" dirty="0"/>
              <a:t>At nadir DO2 of 240 (2.35), each increase in 35 (1) minutes of cross-clamp duration corresponds to exp(0.31 – 2.35*0.04) = 1.24 increase in odds of AKI.</a:t>
            </a:r>
          </a:p>
        </p:txBody>
      </p:sp>
    </p:spTree>
    <p:extLst>
      <p:ext uri="{BB962C8B-B14F-4D97-AF65-F5344CB8AC3E}">
        <p14:creationId xmlns:p14="http://schemas.microsoft.com/office/powerpoint/2010/main" val="41752120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DDB81D-9FDF-954F-F394-61987063272E}"/>
              </a:ext>
            </a:extLst>
          </p:cNvPr>
          <p:cNvSpPr>
            <a:spLocks noGrp="1"/>
          </p:cNvSpPr>
          <p:nvPr>
            <p:ph type="title"/>
          </p:nvPr>
        </p:nvSpPr>
        <p:spPr/>
        <p:txBody>
          <a:bodyPr/>
          <a:lstStyle/>
          <a:p>
            <a:r>
              <a:rPr lang="en-US" dirty="0"/>
              <a:t>Reweighted regression (MSM) of nadir DO2 and cross-clamp duration on AKI (cont.)</a:t>
            </a:r>
          </a:p>
        </p:txBody>
      </p:sp>
      <p:sp>
        <p:nvSpPr>
          <p:cNvPr id="3" name="Content Placeholder 2">
            <a:extLst>
              <a:ext uri="{FF2B5EF4-FFF2-40B4-BE49-F238E27FC236}">
                <a16:creationId xmlns:a16="http://schemas.microsoft.com/office/drawing/2014/main" id="{86238FB4-8B4E-155A-7CAF-C0E5E0B6DB19}"/>
              </a:ext>
            </a:extLst>
          </p:cNvPr>
          <p:cNvSpPr>
            <a:spLocks noGrp="1"/>
          </p:cNvSpPr>
          <p:nvPr>
            <p:ph idx="1"/>
          </p:nvPr>
        </p:nvSpPr>
        <p:spPr/>
        <p:txBody>
          <a:bodyPr/>
          <a:lstStyle/>
          <a:p>
            <a:pPr fontAlgn="base"/>
            <a:r>
              <a:rPr lang="en-US" dirty="0"/>
              <a:t>Mean and standard deviation of treatment variables</a:t>
            </a:r>
          </a:p>
          <a:p>
            <a:pPr fontAlgn="base"/>
            <a:r>
              <a:rPr lang="en-US" dirty="0"/>
              <a:t>"mean of nadirDO2 238.878895655371"</a:t>
            </a:r>
          </a:p>
          <a:p>
            <a:pPr fontAlgn="base"/>
            <a:r>
              <a:rPr lang="en-US" dirty="0"/>
              <a:t>[1] "sample standard deviation of nadirDO2 101.815940489656"</a:t>
            </a:r>
          </a:p>
          <a:p>
            <a:pPr fontAlgn="base"/>
            <a:r>
              <a:rPr lang="en-US" dirty="0"/>
              <a:t>[1] "sample standard deviation of </a:t>
            </a:r>
            <a:r>
              <a:rPr lang="en-US" dirty="0" err="1"/>
              <a:t>xclamp_duration</a:t>
            </a:r>
            <a:r>
              <a:rPr lang="en-US" dirty="0"/>
              <a:t> 34.8356583594392”</a:t>
            </a:r>
          </a:p>
          <a:p>
            <a:pPr fontAlgn="base"/>
            <a:r>
              <a:rPr lang="en-US" dirty="0"/>
              <a:t>[1] "mean of </a:t>
            </a:r>
            <a:r>
              <a:rPr lang="en-US" dirty="0" err="1"/>
              <a:t>xclamp_duration</a:t>
            </a:r>
            <a:r>
              <a:rPr lang="en-US" dirty="0"/>
              <a:t> 79.0277161862528"</a:t>
            </a:r>
          </a:p>
          <a:p>
            <a:pPr fontAlgn="base"/>
            <a:r>
              <a:rPr lang="en-US" dirty="0"/>
              <a:t>[1] "standard deviation of stand NGAL"</a:t>
            </a:r>
          </a:p>
          <a:p>
            <a:pPr fontAlgn="base"/>
            <a:r>
              <a:rPr lang="en-US" dirty="0"/>
              <a:t>[1] 36398.22</a:t>
            </a:r>
          </a:p>
          <a:p>
            <a:endParaRPr lang="en-US" dirty="0"/>
          </a:p>
        </p:txBody>
      </p:sp>
    </p:spTree>
    <p:extLst>
      <p:ext uri="{BB962C8B-B14F-4D97-AF65-F5344CB8AC3E}">
        <p14:creationId xmlns:p14="http://schemas.microsoft.com/office/powerpoint/2010/main" val="13919907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62C18-0D27-84A7-8592-06AC8A11B2FA}"/>
              </a:ext>
            </a:extLst>
          </p:cNvPr>
          <p:cNvSpPr>
            <a:spLocks noGrp="1"/>
          </p:cNvSpPr>
          <p:nvPr>
            <p:ph type="title"/>
          </p:nvPr>
        </p:nvSpPr>
        <p:spPr/>
        <p:txBody>
          <a:bodyPr/>
          <a:lstStyle/>
          <a:p>
            <a:r>
              <a:rPr lang="en-US" dirty="0"/>
              <a:t>Values used to find causal effect of 0.16</a:t>
            </a:r>
          </a:p>
        </p:txBody>
      </p:sp>
      <p:sp>
        <p:nvSpPr>
          <p:cNvPr id="3" name="Content Placeholder 2">
            <a:extLst>
              <a:ext uri="{FF2B5EF4-FFF2-40B4-BE49-F238E27FC236}">
                <a16:creationId xmlns:a16="http://schemas.microsoft.com/office/drawing/2014/main" id="{7A20893D-184E-69CE-3FE2-924ACF6B5281}"/>
              </a:ext>
            </a:extLst>
          </p:cNvPr>
          <p:cNvSpPr>
            <a:spLocks noGrp="1"/>
          </p:cNvSpPr>
          <p:nvPr>
            <p:ph idx="1"/>
          </p:nvPr>
        </p:nvSpPr>
        <p:spPr/>
        <p:txBody>
          <a:bodyPr>
            <a:normAutofit fontScale="92500" lnSpcReduction="20000"/>
          </a:bodyPr>
          <a:lstStyle/>
          <a:p>
            <a:r>
              <a:rPr lang="en-US" dirty="0"/>
              <a:t>First value is nadir DO2, second value is cross-clamp duration</a:t>
            </a:r>
          </a:p>
          <a:p>
            <a:r>
              <a:rPr lang="en-US" dirty="0"/>
              <a:t>A prime (bad) values: (0.5, 5)</a:t>
            </a:r>
          </a:p>
          <a:p>
            <a:r>
              <a:rPr lang="en-US" dirty="0"/>
              <a:t>A (good) values: (4, 1.5)</a:t>
            </a:r>
          </a:p>
          <a:p>
            <a:endParaRPr lang="en-US" dirty="0"/>
          </a:p>
          <a:p>
            <a:r>
              <a:rPr lang="en-US" dirty="0"/>
              <a:t>Rescaled to original values…</a:t>
            </a:r>
          </a:p>
          <a:p>
            <a:r>
              <a:rPr lang="en-US" dirty="0"/>
              <a:t>A prime (bad) values: (50.91 mL/min/m2, 174.2 minutes)</a:t>
            </a:r>
          </a:p>
          <a:p>
            <a:r>
              <a:rPr lang="en-US" dirty="0"/>
              <a:t>A (good) values: (407.28 mL/min/m2, 52.26 minutes)</a:t>
            </a:r>
          </a:p>
          <a:p>
            <a:endParaRPr lang="en-US" dirty="0"/>
          </a:p>
          <a:p>
            <a:r>
              <a:rPr lang="en-US" dirty="0"/>
              <a:t>Max, min of nadir DO2 is (0, 499)</a:t>
            </a:r>
          </a:p>
          <a:p>
            <a:r>
              <a:rPr lang="en-US" dirty="0"/>
              <a:t>Max, min of cross-clamp duration is (2, 219)</a:t>
            </a:r>
          </a:p>
        </p:txBody>
      </p:sp>
    </p:spTree>
    <p:extLst>
      <p:ext uri="{BB962C8B-B14F-4D97-AF65-F5344CB8AC3E}">
        <p14:creationId xmlns:p14="http://schemas.microsoft.com/office/powerpoint/2010/main" val="3376341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2A55A-A7DC-AFA9-3B7D-D0F2446F0442}"/>
              </a:ext>
            </a:extLst>
          </p:cNvPr>
          <p:cNvSpPr>
            <a:spLocks noGrp="1"/>
          </p:cNvSpPr>
          <p:nvPr>
            <p:ph type="title"/>
          </p:nvPr>
        </p:nvSpPr>
        <p:spPr/>
        <p:txBody>
          <a:bodyPr/>
          <a:lstStyle/>
          <a:p>
            <a:r>
              <a:rPr lang="en-US" dirty="0"/>
              <a:t>Table of means and standard deviations for standardized KIM-1</a:t>
            </a:r>
          </a:p>
        </p:txBody>
      </p:sp>
      <p:graphicFrame>
        <p:nvGraphicFramePr>
          <p:cNvPr id="4" name="Content Placeholder 3">
            <a:extLst>
              <a:ext uri="{FF2B5EF4-FFF2-40B4-BE49-F238E27FC236}">
                <a16:creationId xmlns:a16="http://schemas.microsoft.com/office/drawing/2014/main" id="{49A1D459-206A-A464-BFFC-9F35D5E565D3}"/>
              </a:ext>
            </a:extLst>
          </p:cNvPr>
          <p:cNvGraphicFramePr>
            <a:graphicFrameLocks noGrp="1"/>
          </p:cNvGraphicFramePr>
          <p:nvPr>
            <p:ph idx="1"/>
            <p:extLst>
              <p:ext uri="{D42A27DB-BD31-4B8C-83A1-F6EECF244321}">
                <p14:modId xmlns:p14="http://schemas.microsoft.com/office/powerpoint/2010/main" val="1685218833"/>
              </p:ext>
            </p:extLst>
          </p:nvPr>
        </p:nvGraphicFramePr>
        <p:xfrm>
          <a:off x="2193437" y="1836871"/>
          <a:ext cx="7266250" cy="5021129"/>
        </p:xfrm>
        <a:graphic>
          <a:graphicData uri="http://schemas.openxmlformats.org/drawingml/2006/table">
            <a:tbl>
              <a:tblPr/>
              <a:tblGrid>
                <a:gridCol w="1453250">
                  <a:extLst>
                    <a:ext uri="{9D8B030D-6E8A-4147-A177-3AD203B41FA5}">
                      <a16:colId xmlns:a16="http://schemas.microsoft.com/office/drawing/2014/main" val="3446865942"/>
                    </a:ext>
                  </a:extLst>
                </a:gridCol>
                <a:gridCol w="1453250">
                  <a:extLst>
                    <a:ext uri="{9D8B030D-6E8A-4147-A177-3AD203B41FA5}">
                      <a16:colId xmlns:a16="http://schemas.microsoft.com/office/drawing/2014/main" val="3574628699"/>
                    </a:ext>
                  </a:extLst>
                </a:gridCol>
                <a:gridCol w="1453250">
                  <a:extLst>
                    <a:ext uri="{9D8B030D-6E8A-4147-A177-3AD203B41FA5}">
                      <a16:colId xmlns:a16="http://schemas.microsoft.com/office/drawing/2014/main" val="3661909069"/>
                    </a:ext>
                  </a:extLst>
                </a:gridCol>
                <a:gridCol w="1453250">
                  <a:extLst>
                    <a:ext uri="{9D8B030D-6E8A-4147-A177-3AD203B41FA5}">
                      <a16:colId xmlns:a16="http://schemas.microsoft.com/office/drawing/2014/main" val="2404674273"/>
                    </a:ext>
                  </a:extLst>
                </a:gridCol>
                <a:gridCol w="1453250">
                  <a:extLst>
                    <a:ext uri="{9D8B030D-6E8A-4147-A177-3AD203B41FA5}">
                      <a16:colId xmlns:a16="http://schemas.microsoft.com/office/drawing/2014/main" val="3639897306"/>
                    </a:ext>
                  </a:extLst>
                </a:gridCol>
              </a:tblGrid>
              <a:tr h="327053">
                <a:tc>
                  <a:txBody>
                    <a:bodyPr/>
                    <a:lstStyle/>
                    <a:p>
                      <a:pPr>
                        <a:spcAft>
                          <a:spcPts val="75"/>
                        </a:spcAft>
                        <a:buNone/>
                      </a:pPr>
                      <a:r>
                        <a:rPr lang="en-US" sz="1200" dirty="0">
                          <a:effectLst/>
                        </a:rPr>
                        <a:t>Standardized KIM-1</a:t>
                      </a:r>
                    </a:p>
                  </a:txBody>
                  <a:tcPr marL="3826" marR="3826" marT="3826" marB="3826" anchor="ctr">
                    <a:lnL>
                      <a:noFill/>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br>
                        <a:rPr lang="en-US" sz="1200" dirty="0">
                          <a:solidFill>
                            <a:srgbClr val="000000"/>
                          </a:solidFill>
                          <a:effectLst/>
                        </a:rPr>
                      </a:br>
                      <a:r>
                        <a:rPr lang="en-US" sz="1200" dirty="0">
                          <a:solidFill>
                            <a:srgbClr val="000000"/>
                          </a:solidFill>
                          <a:effectLst/>
                        </a:rPr>
                        <a:t>Delta-T1</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Delta-T2</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Delta-T3</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Delta-T4</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tcPr>
                </a:tc>
                <a:extLst>
                  <a:ext uri="{0D108BD9-81ED-4DB2-BD59-A6C34878D82A}">
                    <a16:rowId xmlns:a16="http://schemas.microsoft.com/office/drawing/2014/main" val="2450954533"/>
                  </a:ext>
                </a:extLst>
              </a:tr>
              <a:tr h="629702">
                <a:tc>
                  <a:txBody>
                    <a:bodyPr/>
                    <a:lstStyle/>
                    <a:p>
                      <a:pPr>
                        <a:spcAft>
                          <a:spcPts val="75"/>
                        </a:spcAft>
                        <a:buNone/>
                      </a:pPr>
                      <a:r>
                        <a:rPr lang="en-US" sz="1200">
                          <a:solidFill>
                            <a:srgbClr val="000000"/>
                          </a:solidFill>
                          <a:effectLst/>
                        </a:rPr>
                        <a:t>Sample mean for </a:t>
                      </a:r>
                      <a:r>
                        <a:rPr lang="en-US" sz="1200" b="1">
                          <a:solidFill>
                            <a:srgbClr val="000000"/>
                          </a:solidFill>
                          <a:effectLst/>
                        </a:rPr>
                        <a:t>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16.9</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17.1</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7.40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69.7</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633564731"/>
                  </a:ext>
                </a:extLst>
              </a:tr>
              <a:tr h="753917">
                <a:tc>
                  <a:txBody>
                    <a:bodyPr/>
                    <a:lstStyle/>
                    <a:p>
                      <a:pPr>
                        <a:spcAft>
                          <a:spcPts val="75"/>
                        </a:spcAft>
                        <a:buNone/>
                      </a:pPr>
                      <a:r>
                        <a:rPr lang="en-US" sz="1200">
                          <a:solidFill>
                            <a:srgbClr val="000000"/>
                          </a:solidFill>
                          <a:effectLst/>
                        </a:rPr>
                        <a:t>Sample standard deviation for </a:t>
                      </a:r>
                      <a:r>
                        <a:rPr lang="en-US" sz="1200" b="1">
                          <a:solidFill>
                            <a:srgbClr val="000000"/>
                          </a:solidFill>
                          <a:effectLst/>
                        </a:rPr>
                        <a:t>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19.3</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18.4</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13.3</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47.2</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334533532"/>
                  </a:ext>
                </a:extLst>
              </a:tr>
              <a:tr h="878132">
                <a:tc>
                  <a:txBody>
                    <a:bodyPr/>
                    <a:lstStyle/>
                    <a:p>
                      <a:pPr>
                        <a:spcAft>
                          <a:spcPts val="75"/>
                        </a:spcAft>
                        <a:buNone/>
                      </a:pPr>
                      <a:r>
                        <a:rPr lang="en-US" sz="1200">
                          <a:solidFill>
                            <a:srgbClr val="000000"/>
                          </a:solidFill>
                          <a:effectLst/>
                        </a:rPr>
                        <a:t>95% Confidence Interval for Mean of </a:t>
                      </a:r>
                      <a:r>
                        <a:rPr lang="en-US" sz="1200" b="1">
                          <a:solidFill>
                            <a:srgbClr val="000000"/>
                          </a:solidFill>
                          <a:effectLst/>
                        </a:rPr>
                        <a:t>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(6.69, 27.21)</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(7.25, 26.88)</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(0.34, 14.47)</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(43.61, 95.86)</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2412490388"/>
                  </a:ext>
                </a:extLst>
              </a:tr>
              <a:tr h="629702">
                <a:tc>
                  <a:txBody>
                    <a:bodyPr/>
                    <a:lstStyle/>
                    <a:p>
                      <a:pPr>
                        <a:spcAft>
                          <a:spcPts val="75"/>
                        </a:spcAft>
                        <a:buNone/>
                      </a:pPr>
                      <a:r>
                        <a:rPr lang="en-US" sz="1200">
                          <a:solidFill>
                            <a:srgbClr val="000000"/>
                          </a:solidFill>
                          <a:effectLst/>
                        </a:rPr>
                        <a:t>Sample mean for </a:t>
                      </a:r>
                      <a:r>
                        <a:rPr lang="en-US" sz="1200" b="1">
                          <a:solidFill>
                            <a:srgbClr val="000000"/>
                          </a:solidFill>
                          <a:effectLst/>
                        </a:rPr>
                        <a:t>no-AKI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12.3</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14.2</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4.04</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47.7</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632956143"/>
                  </a:ext>
                </a:extLst>
              </a:tr>
              <a:tr h="753917">
                <a:tc>
                  <a:txBody>
                    <a:bodyPr/>
                    <a:lstStyle/>
                    <a:p>
                      <a:pPr>
                        <a:spcAft>
                          <a:spcPts val="75"/>
                        </a:spcAft>
                        <a:buNone/>
                      </a:pPr>
                      <a:r>
                        <a:rPr lang="en-US" sz="1200">
                          <a:solidFill>
                            <a:srgbClr val="000000"/>
                          </a:solidFill>
                          <a:effectLst/>
                        </a:rPr>
                        <a:t>Sample standard deviation for </a:t>
                      </a:r>
                      <a:r>
                        <a:rPr lang="en-US" sz="1200" b="1">
                          <a:solidFill>
                            <a:srgbClr val="000000"/>
                          </a:solidFill>
                          <a:effectLst/>
                        </a:rPr>
                        <a:t>no-AKI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27.0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35.61</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11.79</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43.8</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980481854"/>
                  </a:ext>
                </a:extLst>
              </a:tr>
              <a:tr h="1002347">
                <a:tc>
                  <a:txBody>
                    <a:bodyPr/>
                    <a:lstStyle/>
                    <a:p>
                      <a:pPr>
                        <a:spcAft>
                          <a:spcPts val="75"/>
                        </a:spcAft>
                        <a:buNone/>
                      </a:pPr>
                      <a:r>
                        <a:rPr lang="en-US" sz="1200">
                          <a:solidFill>
                            <a:srgbClr val="000000"/>
                          </a:solidFill>
                          <a:effectLst/>
                        </a:rPr>
                        <a:t>95% Confidence Interval for Mean of </a:t>
                      </a:r>
                      <a:r>
                        <a:rPr lang="en-US" sz="1200" b="1">
                          <a:solidFill>
                            <a:srgbClr val="000000"/>
                          </a:solidFill>
                          <a:effectLst/>
                        </a:rPr>
                        <a:t>no-AKI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(7.59, 16.96)</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(8.03, 20.44)</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(2.00, 6.08)</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(39.82, 55.65)</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83950479"/>
                  </a:ext>
                </a:extLst>
              </a:tr>
            </a:tbl>
          </a:graphicData>
        </a:graphic>
      </p:graphicFrame>
    </p:spTree>
    <p:extLst>
      <p:ext uri="{BB962C8B-B14F-4D97-AF65-F5344CB8AC3E}">
        <p14:creationId xmlns:p14="http://schemas.microsoft.com/office/powerpoint/2010/main" val="8833601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34C5B-6D84-EEF4-6CD4-292D0B9B271C}"/>
              </a:ext>
            </a:extLst>
          </p:cNvPr>
          <p:cNvSpPr>
            <a:spLocks noGrp="1"/>
          </p:cNvSpPr>
          <p:nvPr>
            <p:ph type="title"/>
          </p:nvPr>
        </p:nvSpPr>
        <p:spPr/>
        <p:txBody>
          <a:bodyPr/>
          <a:lstStyle/>
          <a:p>
            <a:r>
              <a:rPr lang="en-US" dirty="0"/>
              <a:t>Table of means and standard deviations for standardized NGAL</a:t>
            </a:r>
          </a:p>
        </p:txBody>
      </p:sp>
      <p:sp>
        <p:nvSpPr>
          <p:cNvPr id="3" name="Content Placeholder 2">
            <a:extLst>
              <a:ext uri="{FF2B5EF4-FFF2-40B4-BE49-F238E27FC236}">
                <a16:creationId xmlns:a16="http://schemas.microsoft.com/office/drawing/2014/main" id="{8B8CB372-84A7-F22F-4760-54E51D6BF40C}"/>
              </a:ext>
            </a:extLst>
          </p:cNvPr>
          <p:cNvSpPr>
            <a:spLocks noGrp="1"/>
          </p:cNvSpPr>
          <p:nvPr>
            <p:ph idx="1"/>
          </p:nvPr>
        </p:nvSpPr>
        <p:spPr/>
        <p:txBody>
          <a:bodyPr/>
          <a:lstStyle/>
          <a:p>
            <a:endParaRPr lang="en-US"/>
          </a:p>
        </p:txBody>
      </p:sp>
      <p:graphicFrame>
        <p:nvGraphicFramePr>
          <p:cNvPr id="4" name="Table 3">
            <a:extLst>
              <a:ext uri="{FF2B5EF4-FFF2-40B4-BE49-F238E27FC236}">
                <a16:creationId xmlns:a16="http://schemas.microsoft.com/office/drawing/2014/main" id="{45550B69-A01B-4C5B-AAF6-47845C9ED8E1}"/>
              </a:ext>
            </a:extLst>
          </p:cNvPr>
          <p:cNvGraphicFramePr>
            <a:graphicFrameLocks noGrp="1"/>
          </p:cNvGraphicFramePr>
          <p:nvPr>
            <p:extLst>
              <p:ext uri="{D42A27DB-BD31-4B8C-83A1-F6EECF244321}">
                <p14:modId xmlns:p14="http://schemas.microsoft.com/office/powerpoint/2010/main" val="1184225221"/>
              </p:ext>
            </p:extLst>
          </p:nvPr>
        </p:nvGraphicFramePr>
        <p:xfrm>
          <a:off x="1458685" y="1923597"/>
          <a:ext cx="9274630" cy="4684656"/>
        </p:xfrm>
        <a:graphic>
          <a:graphicData uri="http://schemas.openxmlformats.org/drawingml/2006/table">
            <a:tbl>
              <a:tblPr/>
              <a:tblGrid>
                <a:gridCol w="1854926">
                  <a:extLst>
                    <a:ext uri="{9D8B030D-6E8A-4147-A177-3AD203B41FA5}">
                      <a16:colId xmlns:a16="http://schemas.microsoft.com/office/drawing/2014/main" val="2387101398"/>
                    </a:ext>
                  </a:extLst>
                </a:gridCol>
                <a:gridCol w="1854926">
                  <a:extLst>
                    <a:ext uri="{9D8B030D-6E8A-4147-A177-3AD203B41FA5}">
                      <a16:colId xmlns:a16="http://schemas.microsoft.com/office/drawing/2014/main" val="3242198091"/>
                    </a:ext>
                  </a:extLst>
                </a:gridCol>
                <a:gridCol w="1854926">
                  <a:extLst>
                    <a:ext uri="{9D8B030D-6E8A-4147-A177-3AD203B41FA5}">
                      <a16:colId xmlns:a16="http://schemas.microsoft.com/office/drawing/2014/main" val="1361804479"/>
                    </a:ext>
                  </a:extLst>
                </a:gridCol>
                <a:gridCol w="1854926">
                  <a:extLst>
                    <a:ext uri="{9D8B030D-6E8A-4147-A177-3AD203B41FA5}">
                      <a16:colId xmlns:a16="http://schemas.microsoft.com/office/drawing/2014/main" val="128015086"/>
                    </a:ext>
                  </a:extLst>
                </a:gridCol>
                <a:gridCol w="1854926">
                  <a:extLst>
                    <a:ext uri="{9D8B030D-6E8A-4147-A177-3AD203B41FA5}">
                      <a16:colId xmlns:a16="http://schemas.microsoft.com/office/drawing/2014/main" val="3272910379"/>
                    </a:ext>
                  </a:extLst>
                </a:gridCol>
              </a:tblGrid>
              <a:tr h="349089">
                <a:tc>
                  <a:txBody>
                    <a:bodyPr/>
                    <a:lstStyle/>
                    <a:p>
                      <a:pPr>
                        <a:spcAft>
                          <a:spcPts val="75"/>
                        </a:spcAft>
                        <a:buNone/>
                      </a:pPr>
                      <a:r>
                        <a:rPr lang="en-US" sz="1200" dirty="0">
                          <a:effectLst/>
                        </a:rPr>
                        <a:t>Standardized NGAL</a:t>
                      </a:r>
                    </a:p>
                  </a:txBody>
                  <a:tcPr marL="3826" marR="3826" marT="3826" marB="3826" anchor="ctr">
                    <a:lnL>
                      <a:noFill/>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br>
                        <a:rPr lang="en-US" sz="1200" dirty="0">
                          <a:solidFill>
                            <a:srgbClr val="000000"/>
                          </a:solidFill>
                          <a:effectLst/>
                        </a:rPr>
                      </a:br>
                      <a:r>
                        <a:rPr lang="en-US" sz="1200" dirty="0">
                          <a:solidFill>
                            <a:srgbClr val="000000"/>
                          </a:solidFill>
                          <a:effectLst/>
                        </a:rPr>
                        <a:t>Delta-T1</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Delta-T2</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Delta-T3</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Delta-T4</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tcPr>
                </a:tc>
                <a:extLst>
                  <a:ext uri="{0D108BD9-81ED-4DB2-BD59-A6C34878D82A}">
                    <a16:rowId xmlns:a16="http://schemas.microsoft.com/office/drawing/2014/main" val="1095422839"/>
                  </a:ext>
                </a:extLst>
              </a:tr>
              <a:tr h="582560">
                <a:tc>
                  <a:txBody>
                    <a:bodyPr/>
                    <a:lstStyle/>
                    <a:p>
                      <a:pPr>
                        <a:spcAft>
                          <a:spcPts val="75"/>
                        </a:spcAft>
                        <a:buNone/>
                      </a:pPr>
                      <a:r>
                        <a:rPr lang="en-US" sz="1200">
                          <a:solidFill>
                            <a:srgbClr val="000000"/>
                          </a:solidFill>
                          <a:effectLst/>
                        </a:rPr>
                        <a:t>Sample mean for </a:t>
                      </a:r>
                      <a:r>
                        <a:rPr lang="en-US" sz="1200" b="1">
                          <a:solidFill>
                            <a:srgbClr val="000000"/>
                          </a:solidFill>
                          <a:effectLst/>
                        </a:rPr>
                        <a:t>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10,100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33,800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44,100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941</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283942964"/>
                  </a:ext>
                </a:extLst>
              </a:tr>
              <a:tr h="697475">
                <a:tc>
                  <a:txBody>
                    <a:bodyPr/>
                    <a:lstStyle/>
                    <a:p>
                      <a:pPr>
                        <a:spcAft>
                          <a:spcPts val="75"/>
                        </a:spcAft>
                        <a:buNone/>
                      </a:pPr>
                      <a:r>
                        <a:rPr lang="en-US" sz="1200">
                          <a:solidFill>
                            <a:srgbClr val="000000"/>
                          </a:solidFill>
                          <a:effectLst/>
                        </a:rPr>
                        <a:t>Sample standard deviation for </a:t>
                      </a:r>
                      <a:r>
                        <a:rPr lang="en-US" sz="1200" b="1">
                          <a:solidFill>
                            <a:srgbClr val="000000"/>
                          </a:solidFill>
                          <a:effectLst/>
                        </a:rPr>
                        <a:t>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19,100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50,200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62,700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1,288</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847103464"/>
                  </a:ext>
                </a:extLst>
              </a:tr>
              <a:tr h="823867">
                <a:tc>
                  <a:txBody>
                    <a:bodyPr/>
                    <a:lstStyle/>
                    <a:p>
                      <a:pPr>
                        <a:spcAft>
                          <a:spcPts val="75"/>
                        </a:spcAft>
                        <a:buNone/>
                      </a:pPr>
                      <a:r>
                        <a:rPr lang="en-US" sz="1200">
                          <a:solidFill>
                            <a:srgbClr val="000000"/>
                          </a:solidFill>
                          <a:effectLst/>
                        </a:rPr>
                        <a:t>95% Confidence Interval for Mean of </a:t>
                      </a:r>
                      <a:r>
                        <a:rPr lang="en-US" sz="1200" b="1">
                          <a:solidFill>
                            <a:srgbClr val="000000"/>
                          </a:solidFill>
                          <a:effectLst/>
                        </a:rPr>
                        <a:t>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(0, 20,300)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(7,000, 60,500)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(10,800, 77,500)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(227, 1,650)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025992334"/>
                  </a:ext>
                </a:extLst>
              </a:tr>
              <a:tr h="582560">
                <a:tc>
                  <a:txBody>
                    <a:bodyPr/>
                    <a:lstStyle/>
                    <a:p>
                      <a:pPr>
                        <a:spcAft>
                          <a:spcPts val="75"/>
                        </a:spcAft>
                        <a:buNone/>
                      </a:pPr>
                      <a:r>
                        <a:rPr lang="en-US" sz="1200">
                          <a:solidFill>
                            <a:srgbClr val="000000"/>
                          </a:solidFill>
                          <a:effectLst/>
                        </a:rPr>
                        <a:t>Sample mean for </a:t>
                      </a:r>
                      <a:r>
                        <a:rPr lang="en-US" sz="1200" b="1">
                          <a:solidFill>
                            <a:srgbClr val="000000"/>
                          </a:solidFill>
                          <a:effectLst/>
                        </a:rPr>
                        <a:t>no-AKI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6,630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18,200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14,600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297</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686602745"/>
                  </a:ext>
                </a:extLst>
              </a:tr>
              <a:tr h="697475">
                <a:tc>
                  <a:txBody>
                    <a:bodyPr/>
                    <a:lstStyle/>
                    <a:p>
                      <a:pPr>
                        <a:spcAft>
                          <a:spcPts val="75"/>
                        </a:spcAft>
                        <a:buNone/>
                      </a:pPr>
                      <a:r>
                        <a:rPr lang="en-US" sz="1200">
                          <a:solidFill>
                            <a:srgbClr val="000000"/>
                          </a:solidFill>
                          <a:effectLst/>
                        </a:rPr>
                        <a:t>Sample standard deviation for </a:t>
                      </a:r>
                      <a:r>
                        <a:rPr lang="en-US" sz="1200" b="1">
                          <a:solidFill>
                            <a:srgbClr val="000000"/>
                          </a:solidFill>
                          <a:effectLst/>
                        </a:rPr>
                        <a:t>no-AKI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21,700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39,000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30,000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853</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917317150"/>
                  </a:ext>
                </a:extLst>
              </a:tr>
              <a:tr h="927307">
                <a:tc>
                  <a:txBody>
                    <a:bodyPr/>
                    <a:lstStyle/>
                    <a:p>
                      <a:pPr>
                        <a:spcAft>
                          <a:spcPts val="75"/>
                        </a:spcAft>
                        <a:buNone/>
                      </a:pPr>
                      <a:r>
                        <a:rPr lang="en-US" sz="1200">
                          <a:solidFill>
                            <a:srgbClr val="000000"/>
                          </a:solidFill>
                          <a:effectLst/>
                        </a:rPr>
                        <a:t>95% Confidence Interval for Mean of </a:t>
                      </a:r>
                      <a:r>
                        <a:rPr lang="en-US" sz="1200" b="1">
                          <a:solidFill>
                            <a:srgbClr val="000000"/>
                          </a:solidFill>
                          <a:effectLst/>
                        </a:rPr>
                        <a:t>no-AKI</a:t>
                      </a:r>
                      <a:r>
                        <a:rPr lang="en-US" sz="1200">
                          <a:solidFill>
                            <a:srgbClr val="000000"/>
                          </a:solidFill>
                          <a:effectLst/>
                        </a:rPr>
                        <a:t> Population</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(2,870, 10,400)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(11,400, 25,000)</a:t>
                      </a:r>
                      <a:endParaRPr lang="en-US" sz="120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(9,350, 19,800)</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(143, 452)</a:t>
                      </a:r>
                      <a:endParaRPr lang="en-US" sz="1200" dirty="0">
                        <a:effectLst/>
                      </a:endParaRPr>
                    </a:p>
                  </a:txBody>
                  <a:tcPr marL="3826" marR="3826" marT="3826" marB="3826"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023671538"/>
                  </a:ext>
                </a:extLst>
              </a:tr>
            </a:tbl>
          </a:graphicData>
        </a:graphic>
      </p:graphicFrame>
    </p:spTree>
    <p:extLst>
      <p:ext uri="{BB962C8B-B14F-4D97-AF65-F5344CB8AC3E}">
        <p14:creationId xmlns:p14="http://schemas.microsoft.com/office/powerpoint/2010/main" val="23648636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08718-0F08-68AC-BDF9-902FFC2F1DD8}"/>
              </a:ext>
            </a:extLst>
          </p:cNvPr>
          <p:cNvSpPr>
            <a:spLocks noGrp="1"/>
          </p:cNvSpPr>
          <p:nvPr>
            <p:ph type="title"/>
          </p:nvPr>
        </p:nvSpPr>
        <p:spPr/>
        <p:txBody>
          <a:bodyPr/>
          <a:lstStyle/>
          <a:p>
            <a:r>
              <a:rPr lang="en-US" dirty="0"/>
              <a:t>Tables of medians, 25th percentiles, and 75</a:t>
            </a:r>
            <a:r>
              <a:rPr lang="en-US" baseline="30000" dirty="0"/>
              <a:t>th</a:t>
            </a:r>
            <a:r>
              <a:rPr lang="en-US" dirty="0"/>
              <a:t> percentiles for standardized KIM-1 and NGAL</a:t>
            </a:r>
          </a:p>
        </p:txBody>
      </p:sp>
      <p:graphicFrame>
        <p:nvGraphicFramePr>
          <p:cNvPr id="4" name="Content Placeholder 3">
            <a:extLst>
              <a:ext uri="{FF2B5EF4-FFF2-40B4-BE49-F238E27FC236}">
                <a16:creationId xmlns:a16="http://schemas.microsoft.com/office/drawing/2014/main" id="{30145003-1AD9-F0A2-594F-A104048BB02B}"/>
              </a:ext>
            </a:extLst>
          </p:cNvPr>
          <p:cNvGraphicFramePr>
            <a:graphicFrameLocks noGrp="1"/>
          </p:cNvGraphicFramePr>
          <p:nvPr>
            <p:ph idx="1"/>
            <p:extLst>
              <p:ext uri="{D42A27DB-BD31-4B8C-83A1-F6EECF244321}">
                <p14:modId xmlns:p14="http://schemas.microsoft.com/office/powerpoint/2010/main" val="3702205319"/>
              </p:ext>
            </p:extLst>
          </p:nvPr>
        </p:nvGraphicFramePr>
        <p:xfrm>
          <a:off x="1474854" y="1839833"/>
          <a:ext cx="4621145" cy="4368110"/>
        </p:xfrm>
        <a:graphic>
          <a:graphicData uri="http://schemas.openxmlformats.org/drawingml/2006/table">
            <a:tbl>
              <a:tblPr/>
              <a:tblGrid>
                <a:gridCol w="924229">
                  <a:extLst>
                    <a:ext uri="{9D8B030D-6E8A-4147-A177-3AD203B41FA5}">
                      <a16:colId xmlns:a16="http://schemas.microsoft.com/office/drawing/2014/main" val="1894970385"/>
                    </a:ext>
                  </a:extLst>
                </a:gridCol>
                <a:gridCol w="924229">
                  <a:extLst>
                    <a:ext uri="{9D8B030D-6E8A-4147-A177-3AD203B41FA5}">
                      <a16:colId xmlns:a16="http://schemas.microsoft.com/office/drawing/2014/main" val="2742312393"/>
                    </a:ext>
                  </a:extLst>
                </a:gridCol>
                <a:gridCol w="924229">
                  <a:extLst>
                    <a:ext uri="{9D8B030D-6E8A-4147-A177-3AD203B41FA5}">
                      <a16:colId xmlns:a16="http://schemas.microsoft.com/office/drawing/2014/main" val="1530252906"/>
                    </a:ext>
                  </a:extLst>
                </a:gridCol>
                <a:gridCol w="924229">
                  <a:extLst>
                    <a:ext uri="{9D8B030D-6E8A-4147-A177-3AD203B41FA5}">
                      <a16:colId xmlns:a16="http://schemas.microsoft.com/office/drawing/2014/main" val="2761745747"/>
                    </a:ext>
                  </a:extLst>
                </a:gridCol>
                <a:gridCol w="924229">
                  <a:extLst>
                    <a:ext uri="{9D8B030D-6E8A-4147-A177-3AD203B41FA5}">
                      <a16:colId xmlns:a16="http://schemas.microsoft.com/office/drawing/2014/main" val="2449344395"/>
                    </a:ext>
                  </a:extLst>
                </a:gridCol>
              </a:tblGrid>
              <a:tr h="349213">
                <a:tc>
                  <a:txBody>
                    <a:bodyPr/>
                    <a:lstStyle/>
                    <a:p>
                      <a:pPr>
                        <a:buNone/>
                      </a:pPr>
                      <a:r>
                        <a:rPr lang="en-US" sz="1100" b="1">
                          <a:solidFill>
                            <a:srgbClr val="242424"/>
                          </a:solidFill>
                          <a:effectLst/>
                          <a:latin typeface="Aptos" panose="020B0004020202020204" pitchFamily="34" charset="0"/>
                        </a:rPr>
                        <a:t>Standardized KIM-1</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Delta-T1</a:t>
                      </a:r>
                      <a:endParaRPr lang="en-US" sz="1200">
                        <a:effectLst/>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Delta-T2</a:t>
                      </a:r>
                      <a:endParaRPr lang="en-US" sz="1200">
                        <a:effectLst/>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a:solidFill>
                            <a:srgbClr val="000000"/>
                          </a:solidFill>
                          <a:effectLst/>
                        </a:rPr>
                        <a:t>Delta-T3</a:t>
                      </a:r>
                      <a:endParaRPr lang="en-US" sz="1200">
                        <a:effectLst/>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200" dirty="0">
                          <a:solidFill>
                            <a:srgbClr val="000000"/>
                          </a:solidFill>
                          <a:effectLst/>
                        </a:rPr>
                        <a:t>Delta-T4</a:t>
                      </a:r>
                      <a:endParaRPr lang="en-US" sz="1200" dirty="0">
                        <a:effectLst/>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316464793"/>
                  </a:ext>
                </a:extLst>
              </a:tr>
              <a:tr h="681139">
                <a:tc>
                  <a:txBody>
                    <a:bodyPr/>
                    <a:lstStyle/>
                    <a:p>
                      <a:pPr>
                        <a:spcAft>
                          <a:spcPts val="75"/>
                        </a:spcAft>
                        <a:buNone/>
                      </a:pPr>
                      <a:r>
                        <a:rPr lang="en-US" sz="1100">
                          <a:solidFill>
                            <a:srgbClr val="000000"/>
                          </a:solidFill>
                          <a:effectLst/>
                          <a:latin typeface="Aptos" panose="020B0004020202020204" pitchFamily="34" charset="0"/>
                        </a:rPr>
                        <a:t>Sample median for </a:t>
                      </a:r>
                      <a:r>
                        <a:rPr lang="en-US" sz="1100" b="1">
                          <a:solidFill>
                            <a:srgbClr val="000000"/>
                          </a:solidFill>
                          <a:effectLst/>
                          <a:latin typeface="Aptos" panose="020B0004020202020204" pitchFamily="34" charset="0"/>
                        </a:rPr>
                        <a:t>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12.54</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12.98</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2.27</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58.12</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4091266717"/>
                  </a:ext>
                </a:extLst>
              </a:tr>
              <a:tr h="681139">
                <a:tc>
                  <a:txBody>
                    <a:bodyPr/>
                    <a:lstStyle/>
                    <a:p>
                      <a:pPr>
                        <a:spcAft>
                          <a:spcPts val="75"/>
                        </a:spcAft>
                        <a:buNone/>
                      </a:pPr>
                      <a:r>
                        <a:rPr lang="en-US" sz="1100">
                          <a:solidFill>
                            <a:srgbClr val="000000"/>
                          </a:solidFill>
                          <a:effectLst/>
                          <a:latin typeface="Aptos" panose="020B0004020202020204" pitchFamily="34" charset="0"/>
                        </a:rPr>
                        <a:t>Sample (Q1, Q3) for </a:t>
                      </a:r>
                      <a:r>
                        <a:rPr lang="en-US" sz="1100" b="1">
                          <a:solidFill>
                            <a:srgbClr val="000000"/>
                          </a:solidFill>
                          <a:effectLst/>
                          <a:latin typeface="Aptos" panose="020B0004020202020204" pitchFamily="34" charset="0"/>
                        </a:rPr>
                        <a:t>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(2.38, 22.41)</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(8.86, 15.29)</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(0.92, 9.37)</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(32.77, 88.74)</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257721490"/>
                  </a:ext>
                </a:extLst>
              </a:tr>
              <a:tr h="596429">
                <a:tc>
                  <a:txBody>
                    <a:bodyPr/>
                    <a:lstStyle/>
                    <a:p>
                      <a:pPr>
                        <a:spcAft>
                          <a:spcPts val="75"/>
                        </a:spcAft>
                        <a:buNone/>
                      </a:pPr>
                      <a:r>
                        <a:rPr lang="en-US" sz="1100">
                          <a:solidFill>
                            <a:srgbClr val="000000"/>
                          </a:solidFill>
                          <a:effectLst/>
                          <a:latin typeface="Aptos" panose="020B0004020202020204" pitchFamily="34" charset="0"/>
                        </a:rPr>
                        <a:t>Q3-Q1 for </a:t>
                      </a:r>
                      <a:r>
                        <a:rPr lang="en-US" sz="1100" b="1">
                          <a:solidFill>
                            <a:srgbClr val="000000"/>
                          </a:solidFill>
                          <a:effectLst/>
                          <a:latin typeface="Aptos" panose="020B0004020202020204" pitchFamily="34" charset="0"/>
                        </a:rPr>
                        <a:t>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20.03</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6.43</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8.45</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55.97</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204578916"/>
                  </a:ext>
                </a:extLst>
              </a:tr>
              <a:tr h="847102">
                <a:tc>
                  <a:txBody>
                    <a:bodyPr/>
                    <a:lstStyle/>
                    <a:p>
                      <a:pPr>
                        <a:spcAft>
                          <a:spcPts val="75"/>
                        </a:spcAft>
                        <a:buNone/>
                      </a:pPr>
                      <a:r>
                        <a:rPr lang="en-US" sz="1100">
                          <a:solidFill>
                            <a:srgbClr val="000000"/>
                          </a:solidFill>
                          <a:effectLst/>
                          <a:latin typeface="Aptos" panose="020B0004020202020204" pitchFamily="34" charset="0"/>
                        </a:rPr>
                        <a:t>Sample median for </a:t>
                      </a:r>
                      <a:r>
                        <a:rPr lang="en-US" sz="1100" b="1">
                          <a:solidFill>
                            <a:srgbClr val="000000"/>
                          </a:solidFill>
                          <a:effectLst/>
                          <a:latin typeface="Aptos" panose="020B0004020202020204" pitchFamily="34" charset="0"/>
                        </a:rPr>
                        <a:t>no-AKI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6.26</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6.82</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2.98</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37.55</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2901191011"/>
                  </a:ext>
                </a:extLst>
              </a:tr>
              <a:tr h="681139">
                <a:tc>
                  <a:txBody>
                    <a:bodyPr/>
                    <a:lstStyle/>
                    <a:p>
                      <a:pPr>
                        <a:spcAft>
                          <a:spcPts val="75"/>
                        </a:spcAft>
                        <a:buNone/>
                      </a:pPr>
                      <a:r>
                        <a:rPr lang="en-US" sz="1100">
                          <a:solidFill>
                            <a:srgbClr val="000000"/>
                          </a:solidFill>
                          <a:effectLst/>
                          <a:latin typeface="Aptos" panose="020B0004020202020204" pitchFamily="34" charset="0"/>
                        </a:rPr>
                        <a:t>Sample (Q1, Q3) for </a:t>
                      </a:r>
                      <a:r>
                        <a:rPr lang="en-US" sz="1100" b="1">
                          <a:solidFill>
                            <a:srgbClr val="000000"/>
                          </a:solidFill>
                          <a:effectLst/>
                          <a:latin typeface="Aptos" panose="020B0004020202020204" pitchFamily="34" charset="0"/>
                        </a:rPr>
                        <a:t>no-AKI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(1.68, 13.06)</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(2.28, 14.33)</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(-0.28, 6.20)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(20.86, 57.80)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2669082496"/>
                  </a:ext>
                </a:extLst>
              </a:tr>
              <a:tr h="515176">
                <a:tc>
                  <a:txBody>
                    <a:bodyPr/>
                    <a:lstStyle/>
                    <a:p>
                      <a:pPr>
                        <a:spcAft>
                          <a:spcPts val="75"/>
                        </a:spcAft>
                        <a:buNone/>
                      </a:pPr>
                      <a:r>
                        <a:rPr lang="en-US" sz="1100">
                          <a:solidFill>
                            <a:srgbClr val="000000"/>
                          </a:solidFill>
                          <a:effectLst/>
                          <a:latin typeface="Aptos" panose="020B0004020202020204" pitchFamily="34" charset="0"/>
                        </a:rPr>
                        <a:t>Q3-Q1 for </a:t>
                      </a:r>
                      <a:r>
                        <a:rPr lang="en-US" sz="1100" b="1">
                          <a:solidFill>
                            <a:srgbClr val="000000"/>
                          </a:solidFill>
                          <a:effectLst/>
                          <a:latin typeface="Aptos" panose="020B0004020202020204" pitchFamily="34" charset="0"/>
                        </a:rPr>
                        <a:t>no-AKI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11.38</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12.05</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6.48</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dirty="0">
                          <a:solidFill>
                            <a:srgbClr val="000000"/>
                          </a:solidFill>
                          <a:effectLst/>
                          <a:latin typeface="Aptos" panose="020B0004020202020204" pitchFamily="34" charset="0"/>
                        </a:rPr>
                        <a:t>36.94</a:t>
                      </a:r>
                      <a:endParaRPr lang="en-US" sz="1100" dirty="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4119683682"/>
                  </a:ext>
                </a:extLst>
              </a:tr>
            </a:tbl>
          </a:graphicData>
        </a:graphic>
      </p:graphicFrame>
      <p:graphicFrame>
        <p:nvGraphicFramePr>
          <p:cNvPr id="5" name="Table 4">
            <a:extLst>
              <a:ext uri="{FF2B5EF4-FFF2-40B4-BE49-F238E27FC236}">
                <a16:creationId xmlns:a16="http://schemas.microsoft.com/office/drawing/2014/main" id="{1A08C893-B9DD-7237-ED82-CB2D342BD443}"/>
              </a:ext>
            </a:extLst>
          </p:cNvPr>
          <p:cNvGraphicFramePr>
            <a:graphicFrameLocks noGrp="1"/>
          </p:cNvGraphicFramePr>
          <p:nvPr>
            <p:extLst>
              <p:ext uri="{D42A27DB-BD31-4B8C-83A1-F6EECF244321}">
                <p14:modId xmlns:p14="http://schemas.microsoft.com/office/powerpoint/2010/main" val="3018944038"/>
              </p:ext>
            </p:extLst>
          </p:nvPr>
        </p:nvGraphicFramePr>
        <p:xfrm>
          <a:off x="6395197" y="1839832"/>
          <a:ext cx="4838860" cy="4361401"/>
        </p:xfrm>
        <a:graphic>
          <a:graphicData uri="http://schemas.openxmlformats.org/drawingml/2006/table">
            <a:tbl>
              <a:tblPr/>
              <a:tblGrid>
                <a:gridCol w="967772">
                  <a:extLst>
                    <a:ext uri="{9D8B030D-6E8A-4147-A177-3AD203B41FA5}">
                      <a16:colId xmlns:a16="http://schemas.microsoft.com/office/drawing/2014/main" val="426142859"/>
                    </a:ext>
                  </a:extLst>
                </a:gridCol>
                <a:gridCol w="967772">
                  <a:extLst>
                    <a:ext uri="{9D8B030D-6E8A-4147-A177-3AD203B41FA5}">
                      <a16:colId xmlns:a16="http://schemas.microsoft.com/office/drawing/2014/main" val="670153980"/>
                    </a:ext>
                  </a:extLst>
                </a:gridCol>
                <a:gridCol w="967772">
                  <a:extLst>
                    <a:ext uri="{9D8B030D-6E8A-4147-A177-3AD203B41FA5}">
                      <a16:colId xmlns:a16="http://schemas.microsoft.com/office/drawing/2014/main" val="1217527318"/>
                    </a:ext>
                  </a:extLst>
                </a:gridCol>
                <a:gridCol w="967772">
                  <a:extLst>
                    <a:ext uri="{9D8B030D-6E8A-4147-A177-3AD203B41FA5}">
                      <a16:colId xmlns:a16="http://schemas.microsoft.com/office/drawing/2014/main" val="3661874509"/>
                    </a:ext>
                  </a:extLst>
                </a:gridCol>
                <a:gridCol w="967772">
                  <a:extLst>
                    <a:ext uri="{9D8B030D-6E8A-4147-A177-3AD203B41FA5}">
                      <a16:colId xmlns:a16="http://schemas.microsoft.com/office/drawing/2014/main" val="878475373"/>
                    </a:ext>
                  </a:extLst>
                </a:gridCol>
              </a:tblGrid>
              <a:tr h="349213">
                <a:tc>
                  <a:txBody>
                    <a:bodyPr/>
                    <a:lstStyle/>
                    <a:p>
                      <a:pPr>
                        <a:buNone/>
                      </a:pPr>
                      <a:r>
                        <a:rPr lang="en-US" sz="1100" b="1">
                          <a:solidFill>
                            <a:srgbClr val="242424"/>
                          </a:solidFill>
                          <a:effectLst/>
                          <a:latin typeface="Aptos" panose="020B0004020202020204" pitchFamily="34" charset="0"/>
                        </a:rPr>
                        <a:t>Standardized NGAL</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Delta-T1</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Delta-T2</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Delta-T3</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Delta-T4</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2245775288"/>
                  </a:ext>
                </a:extLst>
              </a:tr>
              <a:tr h="681139">
                <a:tc>
                  <a:txBody>
                    <a:bodyPr/>
                    <a:lstStyle/>
                    <a:p>
                      <a:pPr>
                        <a:spcAft>
                          <a:spcPts val="75"/>
                        </a:spcAft>
                        <a:buNone/>
                      </a:pPr>
                      <a:r>
                        <a:rPr lang="en-US" sz="1100">
                          <a:solidFill>
                            <a:srgbClr val="000000"/>
                          </a:solidFill>
                          <a:effectLst/>
                          <a:latin typeface="Aptos" panose="020B0004020202020204" pitchFamily="34" charset="0"/>
                        </a:rPr>
                        <a:t>Sample median for </a:t>
                      </a:r>
                      <a:r>
                        <a:rPr lang="en-US" sz="1100" b="1">
                          <a:solidFill>
                            <a:srgbClr val="000000"/>
                          </a:solidFill>
                          <a:effectLst/>
                          <a:latin typeface="Aptos" panose="020B0004020202020204" pitchFamily="34" charset="0"/>
                        </a:rPr>
                        <a:t>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667</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2,610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13,400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482</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729743315"/>
                  </a:ext>
                </a:extLst>
              </a:tr>
              <a:tr h="681139">
                <a:tc>
                  <a:txBody>
                    <a:bodyPr/>
                    <a:lstStyle/>
                    <a:p>
                      <a:pPr>
                        <a:spcAft>
                          <a:spcPts val="75"/>
                        </a:spcAft>
                        <a:buNone/>
                      </a:pPr>
                      <a:r>
                        <a:rPr lang="en-US" sz="1100">
                          <a:solidFill>
                            <a:srgbClr val="000000"/>
                          </a:solidFill>
                          <a:effectLst/>
                          <a:latin typeface="Aptos" panose="020B0004020202020204" pitchFamily="34" charset="0"/>
                        </a:rPr>
                        <a:t>Sample (Q1, Q3) for </a:t>
                      </a:r>
                      <a:r>
                        <a:rPr lang="en-US" sz="1100" b="1">
                          <a:solidFill>
                            <a:srgbClr val="000000"/>
                          </a:solidFill>
                          <a:effectLst/>
                          <a:latin typeface="Aptos" panose="020B0004020202020204" pitchFamily="34" charset="0"/>
                        </a:rPr>
                        <a:t>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(212, 6,330)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(501, 66,000)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(319, 58,500)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(392, 1,030)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515177369"/>
                  </a:ext>
                </a:extLst>
              </a:tr>
              <a:tr h="596429">
                <a:tc>
                  <a:txBody>
                    <a:bodyPr/>
                    <a:lstStyle/>
                    <a:p>
                      <a:pPr>
                        <a:spcAft>
                          <a:spcPts val="75"/>
                        </a:spcAft>
                        <a:buNone/>
                      </a:pPr>
                      <a:r>
                        <a:rPr lang="en-US" sz="1100">
                          <a:solidFill>
                            <a:srgbClr val="000000"/>
                          </a:solidFill>
                          <a:effectLst/>
                          <a:latin typeface="Aptos" panose="020B0004020202020204" pitchFamily="34" charset="0"/>
                        </a:rPr>
                        <a:t>Q3-Q1 for </a:t>
                      </a:r>
                      <a:r>
                        <a:rPr lang="en-US" sz="1100" b="1">
                          <a:solidFill>
                            <a:srgbClr val="000000"/>
                          </a:solidFill>
                          <a:effectLst/>
                          <a:latin typeface="Aptos" panose="020B0004020202020204" pitchFamily="34" charset="0"/>
                        </a:rPr>
                        <a:t>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6,118</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65,499</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dirty="0">
                          <a:solidFill>
                            <a:srgbClr val="000000"/>
                          </a:solidFill>
                          <a:effectLst/>
                          <a:latin typeface="Aptos" panose="020B0004020202020204" pitchFamily="34" charset="0"/>
                        </a:rPr>
                        <a:t>58,181</a:t>
                      </a:r>
                      <a:endParaRPr lang="en-US" sz="1100" dirty="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638</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853728967"/>
                  </a:ext>
                </a:extLst>
              </a:tr>
              <a:tr h="847102">
                <a:tc>
                  <a:txBody>
                    <a:bodyPr/>
                    <a:lstStyle/>
                    <a:p>
                      <a:pPr>
                        <a:spcAft>
                          <a:spcPts val="75"/>
                        </a:spcAft>
                        <a:buNone/>
                      </a:pPr>
                      <a:r>
                        <a:rPr lang="en-US" sz="1100">
                          <a:solidFill>
                            <a:srgbClr val="000000"/>
                          </a:solidFill>
                          <a:effectLst/>
                          <a:latin typeface="Aptos" panose="020B0004020202020204" pitchFamily="34" charset="0"/>
                        </a:rPr>
                        <a:t>Sample median for </a:t>
                      </a:r>
                      <a:r>
                        <a:rPr lang="en-US" sz="1100" b="1">
                          <a:solidFill>
                            <a:srgbClr val="000000"/>
                          </a:solidFill>
                          <a:effectLst/>
                          <a:latin typeface="Aptos" panose="020B0004020202020204" pitchFamily="34" charset="0"/>
                        </a:rPr>
                        <a:t>no-AKI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167</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632</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1,110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231</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066924504"/>
                  </a:ext>
                </a:extLst>
              </a:tr>
              <a:tr h="681139">
                <a:tc>
                  <a:txBody>
                    <a:bodyPr/>
                    <a:lstStyle/>
                    <a:p>
                      <a:pPr>
                        <a:spcAft>
                          <a:spcPts val="75"/>
                        </a:spcAft>
                        <a:buNone/>
                      </a:pPr>
                      <a:r>
                        <a:rPr lang="en-US" sz="1100">
                          <a:solidFill>
                            <a:srgbClr val="000000"/>
                          </a:solidFill>
                          <a:effectLst/>
                          <a:latin typeface="Aptos" panose="020B0004020202020204" pitchFamily="34" charset="0"/>
                        </a:rPr>
                        <a:t>Sample (Q1, Q3) for </a:t>
                      </a:r>
                      <a:r>
                        <a:rPr lang="en-US" sz="1100" b="1">
                          <a:solidFill>
                            <a:srgbClr val="000000"/>
                          </a:solidFill>
                          <a:effectLst/>
                          <a:latin typeface="Aptos" panose="020B0004020202020204" pitchFamily="34" charset="0"/>
                        </a:rPr>
                        <a:t>no-AKI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(11.0, 1,560)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(85.5, 15,300)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(115, 11,600)</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(71.1, 544)</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1865907638"/>
                  </a:ext>
                </a:extLst>
              </a:tr>
              <a:tr h="515176">
                <a:tc>
                  <a:txBody>
                    <a:bodyPr/>
                    <a:lstStyle/>
                    <a:p>
                      <a:pPr>
                        <a:spcAft>
                          <a:spcPts val="75"/>
                        </a:spcAft>
                        <a:buNone/>
                      </a:pPr>
                      <a:r>
                        <a:rPr lang="en-US" sz="1100">
                          <a:solidFill>
                            <a:srgbClr val="000000"/>
                          </a:solidFill>
                          <a:effectLst/>
                          <a:latin typeface="Aptos" panose="020B0004020202020204" pitchFamily="34" charset="0"/>
                        </a:rPr>
                        <a:t>Q3-Q1 for </a:t>
                      </a:r>
                      <a:r>
                        <a:rPr lang="en-US" sz="1100" b="1">
                          <a:solidFill>
                            <a:srgbClr val="000000"/>
                          </a:solidFill>
                          <a:effectLst/>
                          <a:latin typeface="Aptos" panose="020B0004020202020204" pitchFamily="34" charset="0"/>
                        </a:rPr>
                        <a:t>no-AKI</a:t>
                      </a:r>
                      <a:r>
                        <a:rPr lang="en-US" sz="1100">
                          <a:solidFill>
                            <a:srgbClr val="000000"/>
                          </a:solidFill>
                          <a:effectLst/>
                          <a:latin typeface="Aptos" panose="020B0004020202020204" pitchFamily="34" charset="0"/>
                        </a:rPr>
                        <a:t> Population</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1,549</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15,215</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a:solidFill>
                            <a:srgbClr val="000000"/>
                          </a:solidFill>
                          <a:effectLst/>
                          <a:latin typeface="Aptos" panose="020B0004020202020204" pitchFamily="34" charset="0"/>
                        </a:rPr>
                        <a:t>11,485</a:t>
                      </a:r>
                      <a:endParaRPr lang="en-US" sz="110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tc>
                  <a:txBody>
                    <a:bodyPr/>
                    <a:lstStyle/>
                    <a:p>
                      <a:pPr>
                        <a:spcAft>
                          <a:spcPts val="75"/>
                        </a:spcAft>
                        <a:buNone/>
                      </a:pPr>
                      <a:r>
                        <a:rPr lang="en-US" sz="1100" dirty="0">
                          <a:solidFill>
                            <a:srgbClr val="000000"/>
                          </a:solidFill>
                          <a:effectLst/>
                          <a:latin typeface="Aptos" panose="020B0004020202020204" pitchFamily="34" charset="0"/>
                        </a:rPr>
                        <a:t>472.9</a:t>
                      </a:r>
                      <a:endParaRPr lang="en-US" sz="1100" dirty="0">
                        <a:effectLst/>
                        <a:latin typeface="Aptos" panose="020B0004020202020204" pitchFamily="34" charset="0"/>
                      </a:endParaRPr>
                    </a:p>
                  </a:txBody>
                  <a:tcPr marL="8644" marR="8644" marT="8644" marB="8644" anchor="ctr">
                    <a:lnL w="12700" cap="flat" cmpd="sng" algn="ctr">
                      <a:solidFill>
                        <a:srgbClr val="ABABAB"/>
                      </a:solidFill>
                      <a:prstDash val="solid"/>
                      <a:round/>
                      <a:headEnd type="none" w="med" len="med"/>
                      <a:tailEnd type="none" w="med" len="med"/>
                    </a:lnL>
                    <a:lnR w="12700" cap="flat" cmpd="sng" algn="ctr">
                      <a:solidFill>
                        <a:srgbClr val="ABABAB"/>
                      </a:solidFill>
                      <a:prstDash val="solid"/>
                      <a:round/>
                      <a:headEnd type="none" w="med" len="med"/>
                      <a:tailEnd type="none" w="med" len="med"/>
                    </a:lnR>
                    <a:lnT w="12700" cap="flat" cmpd="sng" algn="ctr">
                      <a:solidFill>
                        <a:srgbClr val="ABABAB"/>
                      </a:solidFill>
                      <a:prstDash val="solid"/>
                      <a:round/>
                      <a:headEnd type="none" w="med" len="med"/>
                      <a:tailEnd type="none" w="med" len="med"/>
                    </a:lnT>
                    <a:lnB w="12700" cap="flat" cmpd="sng" algn="ctr">
                      <a:solidFill>
                        <a:srgbClr val="ABABAB"/>
                      </a:solidFill>
                      <a:prstDash val="solid"/>
                      <a:round/>
                      <a:headEnd type="none" w="med" len="med"/>
                      <a:tailEnd type="none" w="med" len="med"/>
                    </a:lnB>
                    <a:solidFill>
                      <a:srgbClr val="FFFFFF"/>
                    </a:solidFill>
                  </a:tcPr>
                </a:tc>
                <a:extLst>
                  <a:ext uri="{0D108BD9-81ED-4DB2-BD59-A6C34878D82A}">
                    <a16:rowId xmlns:a16="http://schemas.microsoft.com/office/drawing/2014/main" val="3571214608"/>
                  </a:ext>
                </a:extLst>
              </a:tr>
            </a:tbl>
          </a:graphicData>
        </a:graphic>
      </p:graphicFrame>
    </p:spTree>
    <p:extLst>
      <p:ext uri="{BB962C8B-B14F-4D97-AF65-F5344CB8AC3E}">
        <p14:creationId xmlns:p14="http://schemas.microsoft.com/office/powerpoint/2010/main" val="40870716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25549</TotalTime>
  <Words>1746</Words>
  <Application>Microsoft Macintosh PowerPoint</Application>
  <PresentationFormat>Widescreen</PresentationFormat>
  <Paragraphs>259</Paragraphs>
  <Slides>30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Aptos</vt:lpstr>
      <vt:lpstr>Aptos Display</vt:lpstr>
      <vt:lpstr>Arial</vt:lpstr>
      <vt:lpstr>Office Theme</vt:lpstr>
      <vt:lpstr>Changes in Standardized KIM-1 and NGAL Among AKI and no-AKI Patients</vt:lpstr>
      <vt:lpstr>Change in Standardized KIM-1 at T1 for AKI vs. no-AKI Patients</vt:lpstr>
      <vt:lpstr>Change in Standardized KIM-1 at T2 for AKI vs. no-AKI Patients</vt:lpstr>
      <vt:lpstr>Change in Standardized KIM-1 at T3 for AKI vs. no-AKI Patients</vt:lpstr>
      <vt:lpstr>Change in Standardized KIM-1 at T4 for AKI vs. no-AKI Patients</vt:lpstr>
      <vt:lpstr>Boxplots for Change in Standardized KIM-1 at T1-T4 for AKI vs. no-AKI Patients</vt:lpstr>
      <vt:lpstr>Change in Standardized NGAL at T1 for AKI vs. no-AKI Patients</vt:lpstr>
      <vt:lpstr>Change in Standardized NGAL at T2 for AKI vs. no-AKI Patients</vt:lpstr>
      <vt:lpstr>Change in Standardized NGAL at T3 for AKI vs. no-AKI Patients</vt:lpstr>
      <vt:lpstr>Change in Standardized NGAL at T4 for AKI vs. no-AKI Patients</vt:lpstr>
      <vt:lpstr>Boxplots for Change in Standardized NGAL at T1-T4 for AKI vs. no-AKI Patients</vt:lpstr>
      <vt:lpstr>Standardized NGAL from Baseline Over Time for AKI and no AKI populations</vt:lpstr>
      <vt:lpstr>Standardized NGAL from Baseline Over Time for AKI and no AKI populations</vt:lpstr>
      <vt:lpstr>Standardized NGAL from Baseline Over Time for AKI and no AKI populations</vt:lpstr>
      <vt:lpstr>Standardized NGAL at T4 for AKI and no AKI populations</vt:lpstr>
      <vt:lpstr>Dictionary of what time points mean</vt:lpstr>
      <vt:lpstr>T-tests of biomarkers between AKI and no AKI groups at T3</vt:lpstr>
      <vt:lpstr>Mediation Analysis when using standardized NGAL at T3 as the mediating variable</vt:lpstr>
      <vt:lpstr>Mediation Analysis when using standardized MCP-1 at T3 as the mediating variable</vt:lpstr>
      <vt:lpstr>Mediation Analysis when using standardized YKL-40 at T3 as the mediating variable</vt:lpstr>
      <vt:lpstr>Mediation Analysis when using standardized NGAL at T4 as the mediating variable</vt:lpstr>
      <vt:lpstr>Reweighted BIC Scores for model selection</vt:lpstr>
      <vt:lpstr>Reweighted regression (MSM) of nadir DO2 and cross-clamp duration on AKI</vt:lpstr>
      <vt:lpstr>Reweighted regression (MSM) of nadir DO2 and cross-clamp duration on AKI (cont.)</vt:lpstr>
      <vt:lpstr>More Straightforward Interpretation of coefficients of MSM</vt:lpstr>
      <vt:lpstr>Reweighted regression (MSM) of nadir DO2 and cross-clamp duration on AKI (cont.)</vt:lpstr>
      <vt:lpstr>Values used to find causal effect of 0.16</vt:lpstr>
      <vt:lpstr>Table of means and standard deviations for standardized KIM-1</vt:lpstr>
      <vt:lpstr>Table of means and standard deviations for standardized NGAL</vt:lpstr>
      <vt:lpstr>Tables of medians, 25th percentiles, and 75th percentiles for standardized KIM-1 and NGAL</vt:lpstr>
    </vt:vector>
  </TitlesOfParts>
  <Company>Johns Hopkins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Jacob M Chen</dc:creator>
  <cp:lastModifiedBy>Jacob Chen</cp:lastModifiedBy>
  <cp:revision>34</cp:revision>
  <dcterms:created xsi:type="dcterms:W3CDTF">2026-02-18T14:26:23Z</dcterms:created>
  <dcterms:modified xsi:type="dcterms:W3CDTF">2026-05-06T20:09:19Z</dcterms:modified>
</cp:coreProperties>
</file>