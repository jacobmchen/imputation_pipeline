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CBC5-2798-EACB-071B-BF4336AD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0661F-9120-EF7C-5705-60E53A8E7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6372-3F3E-B2B9-390D-AB855EE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43B80-6693-634D-6A0C-D3124107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6CDB-6AC1-C2BB-579A-CDEAC619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9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C3DD-6756-4703-0C34-E1ABDD05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F86D-765B-EDE3-2E42-75CC0F4A0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AE45-35F0-E519-C2B0-1035B776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A755E-798B-B224-92D7-D9FF71FF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28273-CAE2-5B61-A275-5733ACAF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1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7FB3-955D-3334-A5D9-704F4CC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07098-D990-8D6D-BDE2-3057BD55F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60CE1-E948-0666-D27B-127F9088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30FA7-B9D2-C831-C70B-7C2215CA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8010-E1C0-EC0F-2CF0-C45CF73E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3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8EC6-9EDE-CA3A-BDB4-BCC988CC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2D70-F786-F27F-76CC-9E272B63A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80CA-E910-4ACA-61B5-CBBA6C999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C2CDD-A885-7C69-682F-06F7AFB6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40781-337B-9604-D975-42479F30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558D5-40A9-5141-C70D-859E2977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5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3ADA-CAFF-B1D1-D15D-B13A49CA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E250-A56F-BC34-F39F-02D64F4C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1B81C-8FA3-05BA-F140-B2A468F38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0FBF7-4F39-F8CA-BF55-5EC5C76EA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D9BB7-7CDF-7393-D2ED-16C128A61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D0EB4-993D-F0E4-9341-68A44309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FAB9F-5BF6-DA35-11EB-1A92BEED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65F3E-E806-4963-A9B8-5DE41398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8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9F88-3262-5A73-E620-36C850CC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D06BD-0F4A-41E1-43E2-7DBE97AC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0D8B6-CC1A-34FA-528F-EDCBF215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73ACE-BCD7-4635-8E2C-87A77205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85573-E758-0C07-66DE-0A30EFD7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3C880-7501-6A74-67FA-526D2AD9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D9024-FCBF-1730-E299-6FDC6E9D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4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7DF2-747C-9F7F-D43E-21CA562E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5AE1D-8A98-BC46-81D0-F104855E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C46F1-F8E7-7419-717C-FBBFC4B2A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845AC-B6F8-E7EB-A340-8C5041A0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FF270-A95E-9FEC-B332-97DD73E3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2EEE0-4B9B-A461-757E-C2155A29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4E82-0F55-0B37-DB30-66EF49EED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E6F01-06A9-9FB0-2F42-253E25B5C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875C1-8A7E-DAFA-0C6B-80DE2EF3B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A8E0-444A-B79D-CD00-07751E60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E21B9-3A1F-04F7-72FC-C457C4E3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03D0B-CC73-428A-8FFB-FCE3FAFF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2608-6DAC-0478-0310-525A3EEB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4189E-8A98-7841-1C32-8B3CAB9F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6D78C-5537-8D22-7C84-1EC2ECB9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2D33-4D3C-9EB2-A5F6-3F9E6247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1220B-573A-3004-A943-A11B54E3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DDD7DE-3842-9FEA-D60A-00070C3EB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7041C-F273-753B-10FE-A19891FDC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77274-8911-B938-8385-BF3D8E1B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EE88-2280-56F6-4EC8-0C592BCD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33089-2C8D-E995-389F-71D5DD0B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0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5421C-3660-8CAE-F3E2-D198DB71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F4043-4B75-B9B5-0574-1FE1EA71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34229-6594-B07B-D1FE-2F7952208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A78ED-B98F-42E9-8346-8CC44BF90042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7214C-78C2-C383-EE07-B68C25FC2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34BC1-2AF7-DAE7-A581-F58F50D5A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E6EF0-37FF-40B1-A471-9D8A3E635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3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3220-A056-6C5B-F868-8549B6233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Changes in Standardized KIM-1 and NGAL Among AKI and no-AKI Patients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DC1A0-738E-CCE6-EF1E-3E6C734A5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7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A20F-7497-3539-AF21-6D7C37DE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KIM-1 at T1 for AKI vs. no-AKI Patients</a:t>
            </a:r>
          </a:p>
        </p:txBody>
      </p:sp>
      <p:pic>
        <p:nvPicPr>
          <p:cNvPr id="13" name="Picture 12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8B3989F9-10A9-C885-5A09-E085D2F62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980" y="1917241"/>
            <a:ext cx="4572000" cy="4572000"/>
          </a:xfrm>
          <a:prstGeom prst="rect">
            <a:avLst/>
          </a:prstGeom>
        </p:spPr>
      </p:pic>
      <p:pic>
        <p:nvPicPr>
          <p:cNvPr id="21" name="Content Placeholder 20" descr="A graph of a patient&#10;&#10;AI-generated content may be incorrect.">
            <a:extLst>
              <a:ext uri="{FF2B5EF4-FFF2-40B4-BE49-F238E27FC236}">
                <a16:creationId xmlns:a16="http://schemas.microsoft.com/office/drawing/2014/main" id="{D915DFDB-29C1-EED5-84EB-658BACB4F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84" y="2027572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05088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2C2A-3FFA-E767-7FDA-71ED5915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KIM-1 at T2 for AKI vs. no-AKI Patients</a:t>
            </a:r>
          </a:p>
        </p:txBody>
      </p:sp>
      <p:pic>
        <p:nvPicPr>
          <p:cNvPr id="5" name="Content Placeholder 4" descr="A graph of a patient&#10;&#10;AI-generated content may be incorrect.">
            <a:extLst>
              <a:ext uri="{FF2B5EF4-FFF2-40B4-BE49-F238E27FC236}">
                <a16:creationId xmlns:a16="http://schemas.microsoft.com/office/drawing/2014/main" id="{B634D3EE-639B-18B0-D1F6-12DCAB614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021" y="1920875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32333198-B0E8-D9BE-FE86-A61E2AC70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979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4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6FF7-0453-4A66-DAA1-8EFA76FA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KIM-1 at T3 for AKI vs. no-AKI Patients</a:t>
            </a:r>
          </a:p>
        </p:txBody>
      </p:sp>
      <p:pic>
        <p:nvPicPr>
          <p:cNvPr id="5" name="Content Placeholder 4" descr="A graph of a patient&#10;&#10;AI-generated content may be incorrect.">
            <a:extLst>
              <a:ext uri="{FF2B5EF4-FFF2-40B4-BE49-F238E27FC236}">
                <a16:creationId xmlns:a16="http://schemas.microsoft.com/office/drawing/2014/main" id="{2D325ADE-FEEC-8137-1489-8D37D2DBC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636" y="1727326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8FC6160F-5CE0-F4EC-DFFB-5A16F17CC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028" y="161699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2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CBA1-FEA9-D8D7-756A-EA6234C8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KIM-1 at T4 for AKI vs. no-AKI Patients</a:t>
            </a:r>
          </a:p>
        </p:txBody>
      </p:sp>
      <p:pic>
        <p:nvPicPr>
          <p:cNvPr id="5" name="Content Placeholder 4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A5491F22-0F91-F46C-8B6F-22CFAD6BD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24" y="1690688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57165E7B-5F63-7E6C-4FF1-557E97A4C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862" y="1690688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0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9B1B-B20F-9786-9D23-D61EA824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 for Change in Standardized KIM-1 at T1-T4 for AKI vs. no-AKI Patients</a:t>
            </a:r>
          </a:p>
        </p:txBody>
      </p:sp>
      <p:pic>
        <p:nvPicPr>
          <p:cNvPr id="5" name="Content Placeholder 4" descr="A graph with a number of boxes&#10;&#10;AI-generated content may be incorrect.">
            <a:extLst>
              <a:ext uri="{FF2B5EF4-FFF2-40B4-BE49-F238E27FC236}">
                <a16:creationId xmlns:a16="http://schemas.microsoft.com/office/drawing/2014/main" id="{6C9AA699-91E0-2E20-B042-EB8BC5863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56" y="1943609"/>
            <a:ext cx="9065287" cy="4351338"/>
          </a:xfrm>
        </p:spPr>
      </p:pic>
    </p:spTree>
    <p:extLst>
      <p:ext uri="{BB962C8B-B14F-4D97-AF65-F5344CB8AC3E}">
        <p14:creationId xmlns:p14="http://schemas.microsoft.com/office/powerpoint/2010/main" val="380572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0FD9-4CE3-EBCA-D4D4-15DB1978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NGAL at T1 for AKI vs. no-AKI Patients</a:t>
            </a:r>
          </a:p>
        </p:txBody>
      </p:sp>
      <p:pic>
        <p:nvPicPr>
          <p:cNvPr id="5" name="Content Placeholder 4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EBEEE7AB-03C7-D6E9-9B7C-B1CA32E4A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01" y="2007476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FAA773F1-2533-ABB2-593A-2E4045204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78" y="189714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5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5F7D-9DF7-243A-B932-BEF9BBE7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NGAL at T2 for AKI vs. no-AKI Patients</a:t>
            </a:r>
          </a:p>
        </p:txBody>
      </p:sp>
      <p:pic>
        <p:nvPicPr>
          <p:cNvPr id="5" name="Content Placeholder 4" descr="A graph of a patient&#10;&#10;AI-generated content may be incorrect.">
            <a:extLst>
              <a:ext uri="{FF2B5EF4-FFF2-40B4-BE49-F238E27FC236}">
                <a16:creationId xmlns:a16="http://schemas.microsoft.com/office/drawing/2014/main" id="{CAB6B1D9-7D73-367D-D01D-1620FE35C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08" y="1882682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E9FC0791-9B98-8B64-CA02-ED1B94FB0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056" y="1772351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0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5F9E-4776-0FE4-D1E7-FDC35F6D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NGAL at T3 for AKI vs. no-AKI Patients</a:t>
            </a:r>
          </a:p>
        </p:txBody>
      </p:sp>
      <p:pic>
        <p:nvPicPr>
          <p:cNvPr id="5" name="Content Placeholder 4" descr="A graph of a patient&#10;&#10;AI-generated content may be incorrect.">
            <a:extLst>
              <a:ext uri="{FF2B5EF4-FFF2-40B4-BE49-F238E27FC236}">
                <a16:creationId xmlns:a16="http://schemas.microsoft.com/office/drawing/2014/main" id="{6C14FCC2-F59D-D6B5-B033-CCF182F94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819" y="2008207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239FE873-CF6B-1809-5751-1C2544C2F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845" y="178754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7DFD-1410-975A-7D20-F29BF08A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Standardized NGAL at T4 for AKI vs. no-AKI Patients</a:t>
            </a:r>
          </a:p>
        </p:txBody>
      </p:sp>
      <p:pic>
        <p:nvPicPr>
          <p:cNvPr id="5" name="Content Placeholder 4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5B79D597-FE93-DFE2-605D-E548A23B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028" y="1911350"/>
            <a:ext cx="4351338" cy="4351338"/>
          </a:xfrm>
        </p:spPr>
      </p:pic>
      <p:pic>
        <p:nvPicPr>
          <p:cNvPr id="7" name="Picture 6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BABFD9B6-B0C7-BDD1-C404-193A6242D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73" y="1801019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6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D3F4-346E-B3A6-F334-96C6A32D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 for Change in Standardized NGAL at T1-T4 for AKI vs. no-AKI Patients</a:t>
            </a:r>
          </a:p>
        </p:txBody>
      </p:sp>
      <p:pic>
        <p:nvPicPr>
          <p:cNvPr id="5" name="Content Placeholder 4" descr="A graph of a bar chart&#10;&#10;AI-generated content may be incorrect.">
            <a:extLst>
              <a:ext uri="{FF2B5EF4-FFF2-40B4-BE49-F238E27FC236}">
                <a16:creationId xmlns:a16="http://schemas.microsoft.com/office/drawing/2014/main" id="{AA302B33-23C7-7CD2-6B9E-262FF7A2F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56" y="1943213"/>
            <a:ext cx="9065287" cy="4351338"/>
          </a:xfrm>
        </p:spPr>
      </p:pic>
    </p:spTree>
    <p:extLst>
      <p:ext uri="{BB962C8B-B14F-4D97-AF65-F5344CB8AC3E}">
        <p14:creationId xmlns:p14="http://schemas.microsoft.com/office/powerpoint/2010/main" val="137760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6488-478F-7C11-1EB2-6395CA6A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Standardized NGAL from Baseline Over Time for AKI and no AKI populations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AC5F1-CEA7-990D-D387-76BD68C2A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40" y="1651785"/>
            <a:ext cx="4665839" cy="46658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9E1B0-4B5A-6AD9-2547-A0C5C8B9A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22" y="1651787"/>
            <a:ext cx="4665838" cy="46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74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5EF6-AD4E-DB4C-28E5-17C07B55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Mediation Analysis when using standardized NGAL at T3 as the mediating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B8C0-D585-C670-017C-DFC0E35A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effect of hypoxia on AKI when NGAL is the mediating variable</a:t>
            </a:r>
          </a:p>
          <a:p>
            <a:r>
              <a:rPr lang="en-US" dirty="0"/>
              <a:t>Total effect: 0.17 (0.00, 0.36)</a:t>
            </a:r>
          </a:p>
          <a:p>
            <a:r>
              <a:rPr lang="en-US" dirty="0"/>
              <a:t>Indirect effect: 0.00 (-0.19, 0.20)</a:t>
            </a:r>
          </a:p>
          <a:p>
            <a:r>
              <a:rPr lang="en-US" dirty="0"/>
              <a:t>Direct effect: 0.16 (0.02, 0.32)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91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F220-07D7-2702-0D83-56DA6F3E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DO2 on standardized NGAL at T3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5D2F-9D96-3CBE-73A1-252C9B28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 of nadir DO2 and X-clamp duration on standardized NGAL at T3</a:t>
            </a:r>
          </a:p>
          <a:p>
            <a:r>
              <a:rPr lang="en-US" dirty="0"/>
              <a:t>0.12 (-0.03, 0.25)</a:t>
            </a:r>
          </a:p>
          <a:p>
            <a:r>
              <a:rPr lang="en-US" dirty="0"/>
              <a:t>These values of standardized NGAL are scaled by the standard deviation, which is about 36,000. An equivalent interval would be</a:t>
            </a:r>
          </a:p>
          <a:p>
            <a:r>
              <a:rPr lang="en-US" dirty="0"/>
              <a:t>4,300 (-1,100, 9,000)</a:t>
            </a:r>
          </a:p>
          <a:p>
            <a:r>
              <a:rPr lang="en-US" dirty="0"/>
              <a:t>This estimate is based off of the imputed values of standardized NGAL for patients that we have no measurements of biomarker data for; this introduces greater amounts of uncertainty</a:t>
            </a:r>
          </a:p>
        </p:txBody>
      </p:sp>
    </p:spTree>
    <p:extLst>
      <p:ext uri="{BB962C8B-B14F-4D97-AF65-F5344CB8AC3E}">
        <p14:creationId xmlns:p14="http://schemas.microsoft.com/office/powerpoint/2010/main" val="113478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283</Words>
  <Application>Microsoft Macintosh PowerPoint</Application>
  <PresentationFormat>Widescreen</PresentationFormat>
  <Paragraphs>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Changes in Standardized KIM-1 and NGAL Among AKI and no-AKI Patients</vt:lpstr>
      <vt:lpstr>Change in Standardized KIM-1 at T1 for AKI vs. no-AKI Patients</vt:lpstr>
      <vt:lpstr>Change in Standardized KIM-1 at T2 for AKI vs. no-AKI Patients</vt:lpstr>
      <vt:lpstr>Change in Standardized KIM-1 at T3 for AKI vs. no-AKI Patients</vt:lpstr>
      <vt:lpstr>Change in Standardized KIM-1 at T4 for AKI vs. no-AKI Patients</vt:lpstr>
      <vt:lpstr>Boxplots for Change in Standardized KIM-1 at T1-T4 for AKI vs. no-AKI Patients</vt:lpstr>
      <vt:lpstr>Change in Standardized NGAL at T1 for AKI vs. no-AKI Patients</vt:lpstr>
      <vt:lpstr>Change in Standardized NGAL at T2 for AKI vs. no-AKI Patients</vt:lpstr>
      <vt:lpstr>Change in Standardized NGAL at T3 for AKI vs. no-AKI Patients</vt:lpstr>
      <vt:lpstr>Change in Standardized NGAL at T4 for AKI vs. no-AKI Patients</vt:lpstr>
      <vt:lpstr>Boxplots for Change in Standardized NGAL at T1-T4 for AKI vs. no-AKI Patients</vt:lpstr>
      <vt:lpstr>Standardized NGAL from Baseline Over Time for AKI and no AKI populations</vt:lpstr>
      <vt:lpstr>Mediation Analysis when using standardized NGAL at T3 as the mediating variable</vt:lpstr>
      <vt:lpstr>Effect of DO2 on standardized NGAL at T3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M Chen</dc:creator>
  <cp:lastModifiedBy>Jacob Chen</cp:lastModifiedBy>
  <cp:revision>10</cp:revision>
  <dcterms:created xsi:type="dcterms:W3CDTF">2026-02-18T14:26:23Z</dcterms:created>
  <dcterms:modified xsi:type="dcterms:W3CDTF">2026-02-26T21:29:40Z</dcterms:modified>
</cp:coreProperties>
</file>